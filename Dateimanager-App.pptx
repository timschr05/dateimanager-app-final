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63" r:id="rId5"/>
    <p:sldId id="260" r:id="rId6"/>
    <p:sldId id="259" r:id="rId7"/>
    <p:sldId id="261" r:id="rId8"/>
    <p:sldId id="262" r:id="rId9"/>
    <p:sldId id="265" r:id="rId10"/>
    <p:sldId id="264" r:id="rId11"/>
    <p:sldId id="267" r:id="rId12"/>
    <p:sldId id="268" r:id="rId13"/>
    <p:sldId id="269" r:id="rId14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BM Plex Sans Light" panose="020B0403050203000203" pitchFamily="34" charset="0"/>
      <p:regular r:id="rId20"/>
      <p:italic r:id="rId21"/>
    </p:embeddedFont>
    <p:embeddedFont>
      <p:font typeface="IBM Plex Sans Medium" panose="020B0603050203000203" pitchFamily="34" charset="0"/>
      <p:regular r:id="rId22"/>
      <p: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Bold" panose="02000000000000000000" charset="0"/>
      <p:regular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4B51"/>
    <a:srgbClr val="FFBC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1024" autoAdjust="0"/>
  </p:normalViewPr>
  <p:slideViewPr>
    <p:cSldViewPr snapToGrid="0" snapToObjects="1">
      <p:cViewPr varScale="1">
        <p:scale>
          <a:sx n="103" d="100"/>
          <a:sy n="103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339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14000"/>
              </a:lnSpc>
              <a:spcAft>
                <a:spcPts val="450"/>
              </a:spcAft>
              <a:buNone/>
            </a:pPr>
            <a:r>
              <a:rPr lang="en-US" sz="1200" b="1" dirty="0" err="1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Warum</a:t>
            </a: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</a:t>
            </a:r>
            <a:r>
              <a:rPr lang="en-US" sz="1200" b="1" dirty="0" err="1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ist</a:t>
            </a: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das </a:t>
            </a:r>
            <a:r>
              <a:rPr lang="en-US" sz="1200" b="1" dirty="0" err="1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wichtig</a:t>
            </a:r>
            <a:r>
              <a:rPr lang="en-US" sz="12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?</a:t>
            </a:r>
            <a:endParaRPr lang="en-US" sz="12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App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arbeitet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immer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einem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eigenen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Stammverzeichnis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unter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Directory.Data</a:t>
            </a:r>
            <a:r>
              <a:rPr lang="en-US" sz="1200" dirty="0">
                <a:solidFill>
                  <a:srgbClr val="FFFFFF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 err="1">
                <a:solidFill>
                  <a:srgbClr val="FFFFFF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dateimanager</a:t>
            </a:r>
            <a:r>
              <a:rPr lang="en-US" sz="1200" dirty="0">
                <a:solidFill>
                  <a:srgbClr val="FFFFFF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-files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Durch die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Prüfung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beim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Öffnen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der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Seite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kann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die App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sicherstellen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dass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dieses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Verzeichnis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vorhanden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bevor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Dateioperationen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ausgeführt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werden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Die App muss </a:t>
            </a:r>
            <a:r>
              <a:rPr lang="en-US" sz="1200" b="1" dirty="0" err="1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nicht</a:t>
            </a: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für </a:t>
            </a:r>
            <a:r>
              <a:rPr lang="en-US" sz="1200" b="1" dirty="0" err="1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jede</a:t>
            </a: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</a:t>
            </a:r>
            <a:r>
              <a:rPr lang="en-US" sz="1200" b="1" dirty="0" err="1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Ordnerebene</a:t>
            </a: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</a:t>
            </a:r>
            <a:r>
              <a:rPr lang="en-US" sz="1200" b="1" dirty="0" err="1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eine</a:t>
            </a: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</a:t>
            </a:r>
            <a:r>
              <a:rPr lang="en-US" sz="1200" b="1" dirty="0" err="1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eigene</a:t>
            </a: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 Logik </a:t>
            </a:r>
            <a:r>
              <a:rPr lang="en-US" sz="1200" b="1" dirty="0" err="1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besitzen</a:t>
            </a: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.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currentPathParts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bildet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zentral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ab, wo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sich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der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Benutzer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gerade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befindet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Beim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Öffnen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wird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Pfadteil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hinzugefügt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beim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Zurückgehen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entfernt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 alle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Dateioperationen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arbeiten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anschließend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automatisch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diesem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aktuellen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Verzeichnis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Durch </a:t>
            </a:r>
            <a:r>
              <a:rPr lang="en-US" sz="1200" dirty="0" err="1">
                <a:solidFill>
                  <a:srgbClr val="FFFFFF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readData</a:t>
            </a:r>
            <a:r>
              <a:rPr lang="en-US" sz="1200" dirty="0">
                <a:solidFill>
                  <a:srgbClr val="FFFFFF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 true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stellt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der File Picker die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ausgewählte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direkt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als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Daten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bereit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Diese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können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anschließend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dem Filesystem-Plugin in das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eigene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App-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Verzeichnis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geschrieben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werden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Bei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großen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kann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der Base64-Import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speicherintensiv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sein,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weil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die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Dateidaten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zunächst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den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Arbeitsspeicher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eingelesen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werden</a:t>
            </a:r>
            <a:r>
              <a:rPr lang="en-US" sz="12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Warum</a:t>
            </a:r>
            <a:r>
              <a:rPr lang="en-US" sz="12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?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Die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liegt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Speicherbereich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der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Dateimanager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-App. Andere Android-Apps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dürfen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Sicherheitsgründen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nicht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direkt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auf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diesen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Speicher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zugreifen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        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FileProvider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nicht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den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gesamten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App-Speicher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öffentlich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ermöglicht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einer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gezielten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Zugriff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auf die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benötigte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über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freigegebene</a:t>
            </a:r>
            <a:r>
              <a:rPr lang="en-US" sz="12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URI.      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Dateimanager-App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Hybride Dateiverwaltung mit Ionic und Capacitor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393" y="68089"/>
            <a:ext cx="3338215" cy="50073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04068"/>
            <a:ext cx="4722763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Was kann die App?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496119" y="775022"/>
            <a:ext cx="4722763" cy="947514"/>
          </a:xfrm>
          <a:prstGeom prst="roundRect">
            <a:avLst>
              <a:gd name="adj" fmla="val 1438"/>
            </a:avLst>
          </a:prstGeom>
          <a:solidFill>
            <a:srgbClr val="484B51"/>
          </a:solidFill>
          <a:ln/>
        </p:spPr>
      </p:sp>
      <p:sp>
        <p:nvSpPr>
          <p:cNvPr id="6" name="Shape 3"/>
          <p:cNvSpPr/>
          <p:nvPr/>
        </p:nvSpPr>
        <p:spPr>
          <a:xfrm>
            <a:off x="586904" y="865808"/>
            <a:ext cx="272430" cy="272430"/>
          </a:xfrm>
          <a:prstGeom prst="ellipse">
            <a:avLst/>
          </a:prstGeom>
          <a:solidFill>
            <a:srgbClr val="FFBC8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839" y="940743"/>
            <a:ext cx="122560" cy="122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119" y="940337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Importieren</a:t>
            </a:r>
            <a:endParaRPr lang="en-US" sz="850" b="1" dirty="0"/>
          </a:p>
        </p:txBody>
      </p:sp>
      <p:sp>
        <p:nvSpPr>
          <p:cNvPr id="9" name="Text 5"/>
          <p:cNvSpPr/>
          <p:nvPr/>
        </p:nvSpPr>
        <p:spPr>
          <a:xfrm>
            <a:off x="661839" y="1219145"/>
            <a:ext cx="4541193" cy="36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 über nativen Android-Dialog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auswählen</a:t>
            </a:r>
            <a:endParaRPr lang="en-US" sz="11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142240" indent="-142240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speichern</a:t>
            </a:r>
            <a:endParaRPr lang="en-US" sz="11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96119" y="1780654"/>
            <a:ext cx="4722763" cy="947514"/>
          </a:xfrm>
          <a:prstGeom prst="roundRect">
            <a:avLst>
              <a:gd name="adj" fmla="val 143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de-DE" dirty="0"/>
          </a:p>
        </p:txBody>
      </p:sp>
      <p:sp>
        <p:nvSpPr>
          <p:cNvPr id="11" name="Shape 7"/>
          <p:cNvSpPr/>
          <p:nvPr/>
        </p:nvSpPr>
        <p:spPr>
          <a:xfrm>
            <a:off x="586904" y="1871439"/>
            <a:ext cx="272430" cy="272430"/>
          </a:xfrm>
          <a:prstGeom prst="ellipse">
            <a:avLst/>
          </a:prstGeom>
          <a:solidFill>
            <a:srgbClr val="FFBC8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839" y="1946374"/>
            <a:ext cx="122560" cy="1225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0119" y="1946374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 err="1">
                <a:solidFill>
                  <a:srgbClr val="D4D4D1"/>
                </a:solidFill>
                <a:latin typeface="IBM Plex Sans Medium" pitchFamily="34" charset="0"/>
              </a:rPr>
              <a:t>Organisieren</a:t>
            </a:r>
            <a:endParaRPr lang="en-US" sz="1000" b="1" dirty="0">
              <a:solidFill>
                <a:srgbClr val="D4D4D1"/>
              </a:solidFill>
              <a:latin typeface="IBM Plex Sans Medium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61838" y="2257537"/>
            <a:ext cx="4541193" cy="3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Ordner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erstellen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navigieren</a:t>
            </a:r>
            <a:endParaRPr lang="en-US" sz="11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142240" indent="-142240">
              <a:lnSpc>
                <a:spcPct val="109000"/>
              </a:lnSpc>
              <a:buSzPct val="100000"/>
              <a:buChar char="•"/>
            </a:pP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Dateien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bleiben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nach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Neustart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erhalten</a:t>
            </a:r>
            <a:endParaRPr lang="en-US" sz="11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96118" y="2779254"/>
            <a:ext cx="4722763" cy="947514"/>
          </a:xfrm>
          <a:prstGeom prst="roundRect">
            <a:avLst>
              <a:gd name="adj" fmla="val 1438"/>
            </a:avLst>
          </a:prstGeom>
          <a:solidFill>
            <a:srgbClr val="484B51"/>
          </a:solidFill>
          <a:ln/>
        </p:spPr>
      </p:sp>
      <p:sp>
        <p:nvSpPr>
          <p:cNvPr id="16" name="Shape 11"/>
          <p:cNvSpPr/>
          <p:nvPr/>
        </p:nvSpPr>
        <p:spPr>
          <a:xfrm>
            <a:off x="586904" y="2877071"/>
            <a:ext cx="272430" cy="272430"/>
          </a:xfrm>
          <a:prstGeom prst="ellipse">
            <a:avLst/>
          </a:prstGeom>
          <a:solidFill>
            <a:srgbClr val="FFBC8F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839" y="2952006"/>
            <a:ext cx="122560" cy="1225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4727" y="2949064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 err="1">
                <a:solidFill>
                  <a:srgbClr val="D4D4D1"/>
                </a:solidFill>
                <a:latin typeface="IBM Plex Sans Medium" pitchFamily="34" charset="0"/>
              </a:rPr>
              <a:t>Öffnen</a:t>
            </a:r>
            <a:endParaRPr lang="en-US" sz="1000" b="1" dirty="0">
              <a:solidFill>
                <a:srgbClr val="D4D4D1"/>
              </a:solidFill>
              <a:latin typeface="IBM Plex Sans Medium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677689" y="3224435"/>
            <a:ext cx="4541193" cy="42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>
              <a:lnSpc>
                <a:spcPct val="109000"/>
              </a:lnSpc>
              <a:buSzPct val="100000"/>
              <a:buChar char="•"/>
            </a:pP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antippen</a:t>
            </a:r>
            <a:endParaRPr lang="en-US" sz="11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142240" indent="-142240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externer Android-App </a:t>
            </a:r>
            <a:r>
              <a:rPr lang="en-US" sz="11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öffnen</a:t>
            </a:r>
            <a:endParaRPr lang="en-US" sz="11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96119" y="3791917"/>
            <a:ext cx="4722763" cy="947514"/>
          </a:xfrm>
          <a:prstGeom prst="roundRect">
            <a:avLst>
              <a:gd name="adj" fmla="val 1438"/>
            </a:avLst>
          </a:prstGeom>
          <a:solidFill>
            <a:srgbClr val="484B51"/>
          </a:solidFill>
          <a:ln/>
        </p:spPr>
      </p:sp>
      <p:sp>
        <p:nvSpPr>
          <p:cNvPr id="21" name="Shape 15"/>
          <p:cNvSpPr/>
          <p:nvPr/>
        </p:nvSpPr>
        <p:spPr>
          <a:xfrm>
            <a:off x="586904" y="3882703"/>
            <a:ext cx="272430" cy="272430"/>
          </a:xfrm>
          <a:prstGeom prst="ellipse">
            <a:avLst/>
          </a:prstGeom>
          <a:solidFill>
            <a:srgbClr val="FFBC8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839" y="3957637"/>
            <a:ext cx="122560" cy="1225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04727" y="3957874"/>
            <a:ext cx="4541193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 err="1">
                <a:solidFill>
                  <a:srgbClr val="D4D4D1"/>
                </a:solidFill>
                <a:latin typeface="IBM Plex Sans Medium" pitchFamily="34" charset="0"/>
              </a:rPr>
              <a:t>Löschen</a:t>
            </a:r>
            <a:endParaRPr lang="en-US" sz="1000" b="1" dirty="0">
              <a:solidFill>
                <a:srgbClr val="D4D4D1"/>
              </a:solidFill>
              <a:latin typeface="IBM Plex Sans Medium" pitchFamily="34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661837" y="4237778"/>
            <a:ext cx="454119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 oder Ordner löschen</a:t>
            </a:r>
            <a:endParaRPr lang="en-US" sz="1100" dirty="0"/>
          </a:p>
          <a:p>
            <a:pPr marL="142240" indent="-142240" algn="l">
              <a:lnSpc>
                <a:spcPct val="109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Bestätigungsdialog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106263"/>
            <a:ext cx="3287316" cy="49309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55274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Technischer Aufbau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43" y="1079655"/>
            <a:ext cx="4722763" cy="25376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8821" y="1260128"/>
            <a:ext cx="1068759" cy="13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UI-Schicht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67070" y="1431723"/>
            <a:ext cx="1130510" cy="21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Ionic UI mit Vue 3 und TypeScript.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834850" y="1621131"/>
            <a:ext cx="1068759" cy="13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Bridge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834850" y="1792726"/>
            <a:ext cx="1130510" cy="21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Capacitor 8 verbindet Web- und Native-Ebene.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28821" y="1991634"/>
            <a:ext cx="1068759" cy="13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Plugin-Ebene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67070" y="2163229"/>
            <a:ext cx="1130510" cy="21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Filesystem, File Picker, File Opener APIs.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834850" y="2404888"/>
            <a:ext cx="1068759" cy="13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Android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834850" y="2576483"/>
            <a:ext cx="1130510" cy="213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Speicherzugriffe und Berechtigungen.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8821" y="2794391"/>
            <a:ext cx="1068759" cy="133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Stammverzeichnis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67070" y="2965986"/>
            <a:ext cx="1130510" cy="213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Directory.Data/dateimanager-files wird verwendet.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6119" y="3905473"/>
            <a:ext cx="472276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App verwaltet Benutzerdateien in einem eigenen Stammverzeichnis: </a:t>
            </a: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Directory.Data/dateimanager-files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Beim Start wird dieses Verzeichnis automatisch erstellt, falls es noch nicht existiert.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510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Native Plugins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176160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App nutzt drei native Bausteine für internes Verwalten, Importieren und das Öffnen in externen Apps.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147888"/>
            <a:ext cx="2622724" cy="1960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308696"/>
            <a:ext cx="2224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CAPACITOR FILESYSTEM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33127" y="2615208"/>
            <a:ext cx="2224906" cy="1332309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readdir() – Ordnerinhalt lesen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mkdir() – Ordner erstellen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writeFile() – Datei speichern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deleteFile() / rmdir() – Löschen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getUri() – Native URI erzeugen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601" y="2147888"/>
            <a:ext cx="2622724" cy="196043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97610" y="2308696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CAPAWESOME FILE PICKER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497610" y="2836664"/>
            <a:ext cx="2224906" cy="95681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Öffnet nativen Android-Dateiauswahldialog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readData: true → Base64-Daten bereitstellen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147888"/>
            <a:ext cx="2622724" cy="19604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2092" y="2308696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CAPAWESOME FILE OPENER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262092" y="2836664"/>
            <a:ext cx="2224906" cy="453628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 fontScale="92500"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 → URI → Android → passende externe App</a:t>
            </a:r>
            <a:endParaRPr lang="en-US" sz="110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AB190CC-ED26-8F28-FF7D-68C4113628FC}"/>
              </a:ext>
            </a:extLst>
          </p:cNvPr>
          <p:cNvSpPr/>
          <p:nvPr/>
        </p:nvSpPr>
        <p:spPr>
          <a:xfrm>
            <a:off x="7848600" y="476596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05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Live-Demo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496119" y="158710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809006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1917948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App öffnen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224460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Hauptverzeichnis zeigen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60601" y="158710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809006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9" name="Text 7"/>
          <p:cNvSpPr/>
          <p:nvPr/>
        </p:nvSpPr>
        <p:spPr>
          <a:xfrm>
            <a:off x="3260601" y="1917948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Ordner erstellen &amp; öffnen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60601" y="2224460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Neues Verzeichnis anlegen und navigieren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25083" y="158710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809006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083" y="1917948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 importieren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25083" y="2224460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Nativen Dialog verwenden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119" y="292611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148013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7" name="Text 15"/>
          <p:cNvSpPr/>
          <p:nvPr/>
        </p:nvSpPr>
        <p:spPr>
          <a:xfrm>
            <a:off x="496119" y="3256955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 extern öffnen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96119" y="3563466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externer App öffnen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60601" y="292611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0601" y="3148013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1" name="Text 19"/>
          <p:cNvSpPr/>
          <p:nvPr/>
        </p:nvSpPr>
        <p:spPr>
          <a:xfrm>
            <a:off x="3260601" y="3256955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 löschen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260601" y="3563466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Bestätigung löschen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25083" y="2926110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083" y="3148013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5" name="Text 23"/>
          <p:cNvSpPr/>
          <p:nvPr/>
        </p:nvSpPr>
        <p:spPr>
          <a:xfrm>
            <a:off x="6025083" y="3256955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App neu starten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025083" y="3563466"/>
            <a:ext cx="26227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Dateien bleiben erhalten</a:t>
            </a:r>
            <a:endParaRPr lang="en-US" sz="1100" dirty="0"/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AC45237-5105-5E8C-2DF5-A0BAF8ACC2B7}"/>
              </a:ext>
            </a:extLst>
          </p:cNvPr>
          <p:cNvSpPr/>
          <p:nvPr/>
        </p:nvSpPr>
        <p:spPr>
          <a:xfrm>
            <a:off x="7848600" y="476596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398420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Was passiert beim App-Start?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6" y="1022140"/>
            <a:ext cx="2670572" cy="7143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5934" y="1374031"/>
            <a:ext cx="2471291" cy="334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HomePage wird geöffnet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5934" y="1571750"/>
            <a:ext cx="2471291" cy="483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HomePage.vue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startet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Ionic Lifecycle beginnt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711" y="1016792"/>
            <a:ext cx="2670572" cy="7143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6530" y="1379327"/>
            <a:ext cx="2471291" cy="380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onIonViewWillEnter()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266329" y="1612189"/>
            <a:ext cx="2471291" cy="447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Wird ausgeführt, bevor die Seite angezeigt oder erneut betreten wird.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484" y="1022140"/>
            <a:ext cx="2670572" cy="7143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5006" y="1379327"/>
            <a:ext cx="2471291" cy="24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ensureManagedFilesRoot()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045207" y="1581559"/>
            <a:ext cx="2471291" cy="42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Prüft, ob das eigene Benutzerverzeichnis vorhanden ist.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Filesystem.stat()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6" y="2462977"/>
            <a:ext cx="2670572" cy="7143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70846" y="2775926"/>
            <a:ext cx="2521112" cy="324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Verzweigung: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050" dirty="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Existiert</a:t>
            </a:r>
            <a:r>
              <a:rPr lang="en-US" sz="1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10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dateimanager-files</a:t>
            </a:r>
            <a:r>
              <a:rPr lang="en-US" sz="10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?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580948" y="3197406"/>
            <a:ext cx="2471291" cy="65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JA: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Verzeichnis muss nicht neu erstellt werden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NEIN: 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Filesystem.mkdir()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Directory.Data/dateimanager-files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032" y="2477985"/>
            <a:ext cx="2670572" cy="7143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349726" y="2775926"/>
            <a:ext cx="2521110" cy="391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loadDirectoryEntries()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402039" y="3011816"/>
            <a:ext cx="2570932" cy="688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Liest die Dateien und Ordner des aktuellen Verzeichnisses ein.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Filesystem.readdir()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566" y="2462977"/>
            <a:ext cx="2670572" cy="714375"/>
          </a:xfrm>
          <a:prstGeom prst="rect">
            <a:avLst/>
          </a:prstGeom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0E6646AF-D4D0-F8B4-C97A-ABB55F04CB80}"/>
              </a:ext>
            </a:extLst>
          </p:cNvPr>
          <p:cNvSpPr/>
          <p:nvPr/>
        </p:nvSpPr>
        <p:spPr>
          <a:xfrm>
            <a:off x="7848600" y="476596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20" name="Text 12"/>
          <p:cNvSpPr/>
          <p:nvPr/>
        </p:nvSpPr>
        <p:spPr>
          <a:xfrm>
            <a:off x="6076944" y="2810023"/>
            <a:ext cx="2570932" cy="38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directoryEntries</a:t>
            </a: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wird aktualisiert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6115229" y="3040566"/>
            <a:ext cx="2471291" cy="313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300"/>
              </a:spcAft>
              <a:buNone/>
            </a:pPr>
            <a:r>
              <a:rPr lang="en-US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Dateien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 Ordner erscheinen in der App</a:t>
            </a:r>
            <a:endParaRPr lang="en-US" sz="100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Ordner · </a:t>
            </a:r>
            <a:r>
              <a:rPr lang="en-US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Dateien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hteck 45">
            <a:extLst>
              <a:ext uri="{FF2B5EF4-FFF2-40B4-BE49-F238E27FC236}">
                <a16:creationId xmlns:a16="http://schemas.microsoft.com/office/drawing/2014/main" id="{81004553-A306-012B-A3C9-6AD696F2F424}"/>
              </a:ext>
            </a:extLst>
          </p:cNvPr>
          <p:cNvSpPr/>
          <p:nvPr/>
        </p:nvSpPr>
        <p:spPr>
          <a:xfrm>
            <a:off x="7848600" y="474982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2" name="Text 0"/>
          <p:cNvSpPr/>
          <p:nvPr/>
        </p:nvSpPr>
        <p:spPr>
          <a:xfrm>
            <a:off x="407021" y="228842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Navigation mit </a:t>
            </a:r>
            <a:r>
              <a:rPr lang="en-US" sz="17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currentPathParts</a:t>
            </a:r>
            <a:endParaRPr lang="en-US" sz="1700" dirty="0"/>
          </a:p>
        </p:txBody>
      </p:sp>
      <p:sp>
        <p:nvSpPr>
          <p:cNvPr id="58" name="Shape 6">
            <a:extLst>
              <a:ext uri="{FF2B5EF4-FFF2-40B4-BE49-F238E27FC236}">
                <a16:creationId xmlns:a16="http://schemas.microsoft.com/office/drawing/2014/main" id="{4C4B71D3-71D1-46EE-02B9-4C02FC962CE4}"/>
              </a:ext>
            </a:extLst>
          </p:cNvPr>
          <p:cNvSpPr/>
          <p:nvPr/>
        </p:nvSpPr>
        <p:spPr>
          <a:xfrm>
            <a:off x="342900" y="720090"/>
            <a:ext cx="4183380" cy="1748790"/>
          </a:xfrm>
          <a:prstGeom prst="roundRect">
            <a:avLst>
              <a:gd name="adj" fmla="val 3137"/>
            </a:avLst>
          </a:prstGeom>
          <a:solidFill>
            <a:srgbClr val="323841"/>
          </a:solidFill>
          <a:ln w="12700">
            <a:solidFill>
              <a:srgbClr val="5A626D"/>
            </a:solidFill>
            <a:prstDash val="solid"/>
          </a:ln>
        </p:spPr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7582C098-854B-BBB7-1181-06D7F35D05F4}"/>
              </a:ext>
            </a:extLst>
          </p:cNvPr>
          <p:cNvSpPr/>
          <p:nvPr/>
        </p:nvSpPr>
        <p:spPr>
          <a:xfrm>
            <a:off x="514350" y="822960"/>
            <a:ext cx="30861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975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Zentraler Zustand + berechneter Pfad</a:t>
            </a:r>
            <a:endParaRPr lang="en-US" sz="975" dirty="0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F5064D94-A3E9-C631-2B20-103044DA089A}"/>
              </a:ext>
            </a:extLst>
          </p:cNvPr>
          <p:cNvSpPr/>
          <p:nvPr/>
        </p:nvSpPr>
        <p:spPr>
          <a:xfrm>
            <a:off x="3634740" y="836676"/>
            <a:ext cx="651510" cy="1234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/>
            <a:r>
              <a:rPr lang="en-US" sz="555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Z. 105–106, 132–134</a:t>
            </a:r>
            <a:endParaRPr lang="en-US" sz="555" dirty="0"/>
          </a:p>
        </p:txBody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222B2F7F-7DFC-AC6A-66DE-160215916796}"/>
              </a:ext>
            </a:extLst>
          </p:cNvPr>
          <p:cNvSpPr/>
          <p:nvPr/>
        </p:nvSpPr>
        <p:spPr>
          <a:xfrm>
            <a:off x="514350" y="1097280"/>
            <a:ext cx="3840480" cy="1165860"/>
          </a:xfrm>
          <a:prstGeom prst="roundRect">
            <a:avLst>
              <a:gd name="adj" fmla="val 2353"/>
            </a:avLst>
          </a:prstGeom>
          <a:solidFill>
            <a:srgbClr val="1E232B"/>
          </a:solidFill>
          <a:ln w="12700">
            <a:solidFill>
              <a:srgbClr val="4A5564"/>
            </a:solidFill>
            <a:prstDash val="solid"/>
          </a:ln>
        </p:spPr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CEFB8D30-62F1-9028-B127-F920126729C7}"/>
              </a:ext>
            </a:extLst>
          </p:cNvPr>
          <p:cNvSpPr/>
          <p:nvPr/>
        </p:nvSpPr>
        <p:spPr>
          <a:xfrm>
            <a:off x="603504" y="1200150"/>
            <a:ext cx="3634740" cy="85725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currentPathParts = ref&lt;string[]&gt;([]);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currentPath = computed(() =&gt;</a:t>
            </a:r>
            <a:endParaRPr lang="en-US" sz="1000" dirty="0"/>
          </a:p>
          <a:p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[managedFilesRoot, ...currentPathParts.value]</a:t>
            </a:r>
            <a:endParaRPr lang="en-US" sz="1000" dirty="0"/>
          </a:p>
          <a:p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.join('/'),</a:t>
            </a:r>
            <a:endParaRPr lang="en-US" sz="1000" dirty="0"/>
          </a:p>
          <a:p>
            <a:r>
              <a:rPr lang="en-US" sz="10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8134BC19-EF6B-2739-13FC-6C8A468F5723}"/>
              </a:ext>
            </a:extLst>
          </p:cNvPr>
          <p:cNvSpPr/>
          <p:nvPr/>
        </p:nvSpPr>
        <p:spPr>
          <a:xfrm>
            <a:off x="4718304" y="720090"/>
            <a:ext cx="4080510" cy="1748790"/>
          </a:xfrm>
          <a:prstGeom prst="roundRect">
            <a:avLst>
              <a:gd name="adj" fmla="val 3137"/>
            </a:avLst>
          </a:prstGeom>
          <a:solidFill>
            <a:srgbClr val="2B3038"/>
          </a:solidFill>
          <a:ln w="12700">
            <a:solidFill>
              <a:srgbClr val="5A626D"/>
            </a:solidFill>
            <a:prstDash val="solid"/>
          </a:ln>
        </p:spPr>
      </p:sp>
      <p:sp>
        <p:nvSpPr>
          <p:cNvPr id="65" name="Text 13">
            <a:extLst>
              <a:ext uri="{FF2B5EF4-FFF2-40B4-BE49-F238E27FC236}">
                <a16:creationId xmlns:a16="http://schemas.microsoft.com/office/drawing/2014/main" id="{FD1EE35C-A559-3371-9F9D-4E9747E757F4}"/>
              </a:ext>
            </a:extLst>
          </p:cNvPr>
          <p:cNvSpPr/>
          <p:nvPr/>
        </p:nvSpPr>
        <p:spPr>
          <a:xfrm>
            <a:off x="4889754" y="822960"/>
            <a:ext cx="3291840" cy="1783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975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Was passiert beim Navigieren?</a:t>
            </a:r>
            <a:endParaRPr lang="en-US" sz="975" dirty="0"/>
          </a:p>
        </p:txBody>
      </p:sp>
      <p:sp>
        <p:nvSpPr>
          <p:cNvPr id="66" name="Shape 14">
            <a:extLst>
              <a:ext uri="{FF2B5EF4-FFF2-40B4-BE49-F238E27FC236}">
                <a16:creationId xmlns:a16="http://schemas.microsoft.com/office/drawing/2014/main" id="{5A00D864-531C-7510-2220-90572183CA5E}"/>
              </a:ext>
            </a:extLst>
          </p:cNvPr>
          <p:cNvSpPr/>
          <p:nvPr/>
        </p:nvSpPr>
        <p:spPr>
          <a:xfrm>
            <a:off x="4889754" y="1179576"/>
            <a:ext cx="864108" cy="493776"/>
          </a:xfrm>
          <a:prstGeom prst="roundRect">
            <a:avLst>
              <a:gd name="adj" fmla="val 6944"/>
            </a:avLst>
          </a:prstGeom>
          <a:solidFill>
            <a:srgbClr val="3A414B"/>
          </a:solidFill>
          <a:ln w="12700">
            <a:solidFill>
              <a:srgbClr val="56606B"/>
            </a:solidFill>
            <a:prstDash val="solid"/>
          </a:ln>
        </p:spPr>
      </p:sp>
      <p:sp>
        <p:nvSpPr>
          <p:cNvPr id="67" name="Text 15">
            <a:extLst>
              <a:ext uri="{FF2B5EF4-FFF2-40B4-BE49-F238E27FC236}">
                <a16:creationId xmlns:a16="http://schemas.microsoft.com/office/drawing/2014/main" id="{3AD441A3-3B07-40CB-9368-843468F4AA4C}"/>
              </a:ext>
            </a:extLst>
          </p:cNvPr>
          <p:cNvSpPr/>
          <p:nvPr/>
        </p:nvSpPr>
        <p:spPr>
          <a:xfrm>
            <a:off x="4965192" y="1234440"/>
            <a:ext cx="82296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r>
              <a:rPr lang="en-US" sz="900" b="1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900" dirty="0"/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03941CF4-0399-2ABB-2E55-CA3366AC7E6A}"/>
              </a:ext>
            </a:extLst>
          </p:cNvPr>
          <p:cNvSpPr/>
          <p:nvPr/>
        </p:nvSpPr>
        <p:spPr>
          <a:xfrm>
            <a:off x="4965192" y="1378458"/>
            <a:ext cx="788670" cy="17145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/root</a:t>
            </a:r>
            <a:endParaRPr lang="en-US" sz="900" dirty="0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1630A1ED-D3B9-FFEE-E166-342B83FD8D04}"/>
              </a:ext>
            </a:extLst>
          </p:cNvPr>
          <p:cNvSpPr/>
          <p:nvPr/>
        </p:nvSpPr>
        <p:spPr>
          <a:xfrm>
            <a:off x="5877306" y="1430528"/>
            <a:ext cx="390906" cy="0"/>
          </a:xfrm>
          <a:prstGeom prst="line">
            <a:avLst/>
          </a:prstGeom>
          <a:noFill/>
          <a:ln w="16510">
            <a:solidFill>
              <a:srgbClr val="F3A56D"/>
            </a:solidFill>
            <a:prstDash val="solid"/>
            <a:tailEnd type="triangle"/>
          </a:ln>
        </p:spPr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100CAEFF-4F36-A28E-02ED-7E923B3D4472}"/>
              </a:ext>
            </a:extLst>
          </p:cNvPr>
          <p:cNvSpPr/>
          <p:nvPr/>
        </p:nvSpPr>
        <p:spPr>
          <a:xfrm>
            <a:off x="5877306" y="1261872"/>
            <a:ext cx="384048" cy="10287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algn="ctr"/>
            <a:r>
              <a:rPr lang="en-US" sz="900" dirty="0">
                <a:solidFill>
                  <a:srgbClr val="F3A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push()</a:t>
            </a:r>
            <a:endParaRPr lang="en-US" sz="900" dirty="0"/>
          </a:p>
        </p:txBody>
      </p:sp>
      <p:sp>
        <p:nvSpPr>
          <p:cNvPr id="71" name="Shape 19">
            <a:extLst>
              <a:ext uri="{FF2B5EF4-FFF2-40B4-BE49-F238E27FC236}">
                <a16:creationId xmlns:a16="http://schemas.microsoft.com/office/drawing/2014/main" id="{DBB08829-6C1D-D8BB-B74A-B23C30686522}"/>
              </a:ext>
            </a:extLst>
          </p:cNvPr>
          <p:cNvSpPr/>
          <p:nvPr/>
        </p:nvSpPr>
        <p:spPr>
          <a:xfrm>
            <a:off x="6405372" y="1179576"/>
            <a:ext cx="1062990" cy="493776"/>
          </a:xfrm>
          <a:prstGeom prst="roundRect">
            <a:avLst>
              <a:gd name="adj" fmla="val 6944"/>
            </a:avLst>
          </a:prstGeom>
          <a:solidFill>
            <a:srgbClr val="3A414B"/>
          </a:solidFill>
          <a:ln w="12700">
            <a:solidFill>
              <a:srgbClr val="56606B"/>
            </a:solidFill>
            <a:prstDash val="solid"/>
          </a:ln>
        </p:spPr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6FF64CF5-FA8F-74C2-98B5-589D87C1010E}"/>
              </a:ext>
            </a:extLst>
          </p:cNvPr>
          <p:cNvSpPr/>
          <p:nvPr/>
        </p:nvSpPr>
        <p:spPr>
          <a:xfrm>
            <a:off x="6473952" y="1234440"/>
            <a:ext cx="92583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r>
              <a:rPr lang="en-US" sz="900" b="1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EBENE</a:t>
            </a:r>
            <a:endParaRPr lang="en-US" sz="900" dirty="0"/>
          </a:p>
        </p:txBody>
      </p:sp>
      <p:sp>
        <p:nvSpPr>
          <p:cNvPr id="73" name="Text 21">
            <a:extLst>
              <a:ext uri="{FF2B5EF4-FFF2-40B4-BE49-F238E27FC236}">
                <a16:creationId xmlns:a16="http://schemas.microsoft.com/office/drawing/2014/main" id="{D35CC590-A15E-4065-7453-8FA6EC28B9B6}"/>
              </a:ext>
            </a:extLst>
          </p:cNvPr>
          <p:cNvSpPr/>
          <p:nvPr/>
        </p:nvSpPr>
        <p:spPr>
          <a:xfrm>
            <a:off x="6443091" y="1373378"/>
            <a:ext cx="1296162" cy="4663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["Dokumente"]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/.../Dokumente</a:t>
            </a:r>
            <a:endParaRPr lang="en-US" sz="900" dirty="0"/>
          </a:p>
        </p:txBody>
      </p:sp>
      <p:sp>
        <p:nvSpPr>
          <p:cNvPr id="74" name="Shape 22">
            <a:extLst>
              <a:ext uri="{FF2B5EF4-FFF2-40B4-BE49-F238E27FC236}">
                <a16:creationId xmlns:a16="http://schemas.microsoft.com/office/drawing/2014/main" id="{61506C22-1A6B-66C9-3546-882BA9CC2B55}"/>
              </a:ext>
            </a:extLst>
          </p:cNvPr>
          <p:cNvSpPr/>
          <p:nvPr/>
        </p:nvSpPr>
        <p:spPr>
          <a:xfrm>
            <a:off x="7543800" y="1426464"/>
            <a:ext cx="342900" cy="0"/>
          </a:xfrm>
          <a:prstGeom prst="line">
            <a:avLst/>
          </a:prstGeom>
          <a:noFill/>
          <a:ln w="16510">
            <a:solidFill>
              <a:srgbClr val="F3A56D"/>
            </a:solidFill>
            <a:prstDash val="solid"/>
            <a:tailEnd type="triangle"/>
          </a:ln>
        </p:spPr>
      </p:sp>
      <p:sp>
        <p:nvSpPr>
          <p:cNvPr id="75" name="Text 23">
            <a:extLst>
              <a:ext uri="{FF2B5EF4-FFF2-40B4-BE49-F238E27FC236}">
                <a16:creationId xmlns:a16="http://schemas.microsoft.com/office/drawing/2014/main" id="{EFA23967-5E6E-4ACE-F4E2-65E67E30A05B}"/>
              </a:ext>
            </a:extLst>
          </p:cNvPr>
          <p:cNvSpPr/>
          <p:nvPr/>
        </p:nvSpPr>
        <p:spPr>
          <a:xfrm>
            <a:off x="7513637" y="1241298"/>
            <a:ext cx="408051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algn="ctr"/>
            <a:r>
              <a:rPr lang="en-US" sz="900" dirty="0">
                <a:solidFill>
                  <a:srgbClr val="F3A5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push()</a:t>
            </a:r>
            <a:endParaRPr lang="en-US" sz="900" dirty="0"/>
          </a:p>
        </p:txBody>
      </p:sp>
      <p:sp>
        <p:nvSpPr>
          <p:cNvPr id="76" name="Shape 24">
            <a:extLst>
              <a:ext uri="{FF2B5EF4-FFF2-40B4-BE49-F238E27FC236}">
                <a16:creationId xmlns:a16="http://schemas.microsoft.com/office/drawing/2014/main" id="{4E1C3D71-5885-2D5C-3AF2-498D6D852662}"/>
              </a:ext>
            </a:extLst>
          </p:cNvPr>
          <p:cNvSpPr/>
          <p:nvPr/>
        </p:nvSpPr>
        <p:spPr>
          <a:xfrm>
            <a:off x="7941564" y="1179576"/>
            <a:ext cx="685800" cy="493776"/>
          </a:xfrm>
          <a:prstGeom prst="roundRect">
            <a:avLst>
              <a:gd name="adj" fmla="val 6944"/>
            </a:avLst>
          </a:prstGeom>
          <a:solidFill>
            <a:srgbClr val="3A414B"/>
          </a:solidFill>
          <a:ln w="12700">
            <a:solidFill>
              <a:srgbClr val="56606B"/>
            </a:solidFill>
            <a:prstDash val="solid"/>
          </a:ln>
        </p:spPr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D68CEA6F-0970-7E02-6309-6990CF16B969}"/>
              </a:ext>
            </a:extLst>
          </p:cNvPr>
          <p:cNvSpPr/>
          <p:nvPr/>
        </p:nvSpPr>
        <p:spPr>
          <a:xfrm>
            <a:off x="7996428" y="1234440"/>
            <a:ext cx="562356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r>
              <a:rPr lang="en-US" sz="900" b="1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EBENE</a:t>
            </a:r>
            <a:endParaRPr lang="en-US" sz="9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C0B50A77-FE0C-2321-1DDA-E50F2BDC534B}"/>
              </a:ext>
            </a:extLst>
          </p:cNvPr>
          <p:cNvSpPr/>
          <p:nvPr/>
        </p:nvSpPr>
        <p:spPr>
          <a:xfrm>
            <a:off x="7996428" y="1371600"/>
            <a:ext cx="610362" cy="2702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["Dok.",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"Uni"]</a:t>
            </a:r>
            <a:endParaRPr lang="en-US" sz="900" dirty="0"/>
          </a:p>
        </p:txBody>
      </p:sp>
      <p:sp>
        <p:nvSpPr>
          <p:cNvPr id="79" name="Shape 27">
            <a:extLst>
              <a:ext uri="{FF2B5EF4-FFF2-40B4-BE49-F238E27FC236}">
                <a16:creationId xmlns:a16="http://schemas.microsoft.com/office/drawing/2014/main" id="{D1536567-87AD-E266-0B8B-7DAC86C27FAC}"/>
              </a:ext>
            </a:extLst>
          </p:cNvPr>
          <p:cNvSpPr/>
          <p:nvPr/>
        </p:nvSpPr>
        <p:spPr>
          <a:xfrm>
            <a:off x="4889754" y="1865376"/>
            <a:ext cx="1783080" cy="301752"/>
          </a:xfrm>
          <a:prstGeom prst="roundRect">
            <a:avLst>
              <a:gd name="adj" fmla="val 9091"/>
            </a:avLst>
          </a:prstGeom>
          <a:solidFill>
            <a:srgbClr val="FFBC8F"/>
          </a:solidFill>
          <a:ln w="12700">
            <a:solidFill>
              <a:srgbClr val="FFBC8F"/>
            </a:solidFill>
            <a:prstDash val="solid"/>
          </a:ln>
        </p:spPr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07CA3743-17BA-65E8-B075-D5B86F9F21CC}"/>
              </a:ext>
            </a:extLst>
          </p:cNvPr>
          <p:cNvSpPr/>
          <p:nvPr/>
        </p:nvSpPr>
        <p:spPr>
          <a:xfrm>
            <a:off x="4965192" y="1911858"/>
            <a:ext cx="1611630" cy="960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r>
              <a:rPr lang="en-US" sz="900" b="1" dirty="0">
                <a:solidFill>
                  <a:srgbClr val="484B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push() fügt den Ordnernamen hinzu</a:t>
            </a:r>
            <a:endParaRPr lang="en-US" sz="900" dirty="0">
              <a:solidFill>
                <a:srgbClr val="484B51"/>
              </a:solidFill>
            </a:endParaRPr>
          </a:p>
        </p:txBody>
      </p:sp>
      <p:sp>
        <p:nvSpPr>
          <p:cNvPr id="81" name="Shape 29">
            <a:extLst>
              <a:ext uri="{FF2B5EF4-FFF2-40B4-BE49-F238E27FC236}">
                <a16:creationId xmlns:a16="http://schemas.microsoft.com/office/drawing/2014/main" id="{500FF3FB-FD01-EAD5-0D61-33364754B471}"/>
              </a:ext>
            </a:extLst>
          </p:cNvPr>
          <p:cNvSpPr/>
          <p:nvPr/>
        </p:nvSpPr>
        <p:spPr>
          <a:xfrm>
            <a:off x="6823710" y="1865376"/>
            <a:ext cx="1783080" cy="301752"/>
          </a:xfrm>
          <a:prstGeom prst="roundRect">
            <a:avLst>
              <a:gd name="adj" fmla="val 9091"/>
            </a:avLst>
          </a:prstGeom>
          <a:solidFill>
            <a:srgbClr val="FFBC8F"/>
          </a:solidFill>
          <a:ln w="12700">
            <a:solidFill>
              <a:srgbClr val="FFBC8F"/>
            </a:solidFill>
            <a:prstDash val="solid"/>
          </a:ln>
        </p:spPr>
      </p:sp>
      <p:sp>
        <p:nvSpPr>
          <p:cNvPr id="82" name="Text 30">
            <a:extLst>
              <a:ext uri="{FF2B5EF4-FFF2-40B4-BE49-F238E27FC236}">
                <a16:creationId xmlns:a16="http://schemas.microsoft.com/office/drawing/2014/main" id="{C6474642-A371-BC31-A6C0-A9433EDDE812}"/>
              </a:ext>
            </a:extLst>
          </p:cNvPr>
          <p:cNvSpPr/>
          <p:nvPr/>
        </p:nvSpPr>
        <p:spPr>
          <a:xfrm>
            <a:off x="6912864" y="1906524"/>
            <a:ext cx="1611630" cy="960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r>
              <a:rPr lang="en-US" sz="900" b="1" dirty="0">
                <a:solidFill>
                  <a:srgbClr val="484B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pop() entfernt den letzten Ordner</a:t>
            </a:r>
            <a:endParaRPr lang="en-US" sz="900" dirty="0">
              <a:solidFill>
                <a:srgbClr val="484B51"/>
              </a:solidFill>
            </a:endParaRPr>
          </a:p>
        </p:txBody>
      </p:sp>
      <p:sp>
        <p:nvSpPr>
          <p:cNvPr id="83" name="Shape 31">
            <a:extLst>
              <a:ext uri="{FF2B5EF4-FFF2-40B4-BE49-F238E27FC236}">
                <a16:creationId xmlns:a16="http://schemas.microsoft.com/office/drawing/2014/main" id="{07E71B8A-85BD-95C0-0A2C-253CB2D0D783}"/>
              </a:ext>
            </a:extLst>
          </p:cNvPr>
          <p:cNvSpPr/>
          <p:nvPr/>
        </p:nvSpPr>
        <p:spPr>
          <a:xfrm>
            <a:off x="342900" y="2660904"/>
            <a:ext cx="4183380" cy="1447038"/>
          </a:xfrm>
          <a:prstGeom prst="roundRect">
            <a:avLst>
              <a:gd name="adj" fmla="val 4124"/>
            </a:avLst>
          </a:prstGeom>
          <a:solidFill>
            <a:srgbClr val="323841"/>
          </a:solidFill>
          <a:ln w="12700">
            <a:solidFill>
              <a:srgbClr val="5A626D"/>
            </a:solidFill>
            <a:prstDash val="solid"/>
          </a:ln>
        </p:spPr>
      </p:sp>
      <p:sp>
        <p:nvSpPr>
          <p:cNvPr id="84" name="Text 32">
            <a:extLst>
              <a:ext uri="{FF2B5EF4-FFF2-40B4-BE49-F238E27FC236}">
                <a16:creationId xmlns:a16="http://schemas.microsoft.com/office/drawing/2014/main" id="{9ADC99E0-F6F9-919D-EAAA-703C5E6E6F1C}"/>
              </a:ext>
            </a:extLst>
          </p:cNvPr>
          <p:cNvSpPr/>
          <p:nvPr/>
        </p:nvSpPr>
        <p:spPr>
          <a:xfrm>
            <a:off x="514350" y="2756916"/>
            <a:ext cx="30861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975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Herein/</a:t>
            </a:r>
            <a:r>
              <a:rPr lang="en-US" sz="975" b="1" dirty="0" err="1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Heraus</a:t>
            </a:r>
            <a:r>
              <a:rPr lang="en-US" sz="975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push() / pop()</a:t>
            </a:r>
            <a:endParaRPr lang="en-US" sz="975" dirty="0"/>
          </a:p>
        </p:txBody>
      </p:sp>
      <p:sp>
        <p:nvSpPr>
          <p:cNvPr id="85" name="Text 33">
            <a:extLst>
              <a:ext uri="{FF2B5EF4-FFF2-40B4-BE49-F238E27FC236}">
                <a16:creationId xmlns:a16="http://schemas.microsoft.com/office/drawing/2014/main" id="{52762596-5872-50C0-43E6-920053A8F7EE}"/>
              </a:ext>
            </a:extLst>
          </p:cNvPr>
          <p:cNvSpPr/>
          <p:nvPr/>
        </p:nvSpPr>
        <p:spPr>
          <a:xfrm>
            <a:off x="3634740" y="2770632"/>
            <a:ext cx="651510" cy="1234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r"/>
            <a:r>
              <a:rPr lang="en-US" sz="555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Z. 175–182, 198–205</a:t>
            </a:r>
            <a:endParaRPr lang="en-US" sz="555" dirty="0"/>
          </a:p>
        </p:txBody>
      </p:sp>
      <p:sp>
        <p:nvSpPr>
          <p:cNvPr id="86" name="Shape 34">
            <a:extLst>
              <a:ext uri="{FF2B5EF4-FFF2-40B4-BE49-F238E27FC236}">
                <a16:creationId xmlns:a16="http://schemas.microsoft.com/office/drawing/2014/main" id="{D2AB924C-34A9-7724-8E75-6E285A7FE7BF}"/>
              </a:ext>
            </a:extLst>
          </p:cNvPr>
          <p:cNvSpPr/>
          <p:nvPr/>
        </p:nvSpPr>
        <p:spPr>
          <a:xfrm>
            <a:off x="407021" y="3003803"/>
            <a:ext cx="1924699" cy="1042415"/>
          </a:xfrm>
          <a:prstGeom prst="roundRect">
            <a:avLst>
              <a:gd name="adj" fmla="val 3540"/>
            </a:avLst>
          </a:prstGeom>
          <a:solidFill>
            <a:srgbClr val="1E232B"/>
          </a:solidFill>
          <a:ln w="12700">
            <a:solidFill>
              <a:srgbClr val="4A5564"/>
            </a:solidFill>
            <a:prstDash val="solid"/>
          </a:ln>
        </p:spPr>
      </p:sp>
      <p:sp>
        <p:nvSpPr>
          <p:cNvPr id="87" name="Shape 35">
            <a:extLst>
              <a:ext uri="{FF2B5EF4-FFF2-40B4-BE49-F238E27FC236}">
                <a16:creationId xmlns:a16="http://schemas.microsoft.com/office/drawing/2014/main" id="{EBC93547-6560-8C36-6A1F-F7EE616D6F0E}"/>
              </a:ext>
            </a:extLst>
          </p:cNvPr>
          <p:cNvSpPr/>
          <p:nvPr/>
        </p:nvSpPr>
        <p:spPr>
          <a:xfrm>
            <a:off x="453771" y="3072384"/>
            <a:ext cx="685800" cy="157734"/>
          </a:xfrm>
          <a:prstGeom prst="roundRect">
            <a:avLst>
              <a:gd name="adj" fmla="val 21739"/>
            </a:avLst>
          </a:prstGeom>
          <a:solidFill>
            <a:srgbClr val="FFBC8F"/>
          </a:solidFill>
          <a:ln w="12700">
            <a:solidFill>
              <a:srgbClr val="FFBC8F"/>
            </a:solidFill>
            <a:prstDash val="solid"/>
          </a:ln>
        </p:spPr>
      </p:sp>
      <p:sp>
        <p:nvSpPr>
          <p:cNvPr id="88" name="Text 36">
            <a:extLst>
              <a:ext uri="{FF2B5EF4-FFF2-40B4-BE49-F238E27FC236}">
                <a16:creationId xmlns:a16="http://schemas.microsoft.com/office/drawing/2014/main" id="{85FCE6C9-7E7E-07D1-AE4A-ADC8976DE3F2}"/>
              </a:ext>
            </a:extLst>
          </p:cNvPr>
          <p:cNvSpPr/>
          <p:nvPr/>
        </p:nvSpPr>
        <p:spPr>
          <a:xfrm>
            <a:off x="481203" y="3086100"/>
            <a:ext cx="630936" cy="1303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8" b="1" dirty="0">
                <a:solidFill>
                  <a:srgbClr val="1414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Ordner öffnen</a:t>
            </a:r>
            <a:endParaRPr lang="en-US" sz="638" dirty="0"/>
          </a:p>
        </p:txBody>
      </p:sp>
      <p:sp>
        <p:nvSpPr>
          <p:cNvPr id="89" name="Text 37">
            <a:extLst>
              <a:ext uri="{FF2B5EF4-FFF2-40B4-BE49-F238E27FC236}">
                <a16:creationId xmlns:a16="http://schemas.microsoft.com/office/drawing/2014/main" id="{3A64BA5A-7F2C-B1CC-32DF-CB898371BE74}"/>
              </a:ext>
            </a:extLst>
          </p:cNvPr>
          <p:cNvSpPr/>
          <p:nvPr/>
        </p:nvSpPr>
        <p:spPr>
          <a:xfrm>
            <a:off x="453771" y="3298698"/>
            <a:ext cx="1632204" cy="37719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currentPathParts.value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.push(entry.name);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loadDirectoryEntries();</a:t>
            </a:r>
            <a:endParaRPr lang="en-US" sz="900" dirty="0"/>
          </a:p>
        </p:txBody>
      </p:sp>
      <p:sp>
        <p:nvSpPr>
          <p:cNvPr id="90" name="Shape 38">
            <a:extLst>
              <a:ext uri="{FF2B5EF4-FFF2-40B4-BE49-F238E27FC236}">
                <a16:creationId xmlns:a16="http://schemas.microsoft.com/office/drawing/2014/main" id="{64C43ED0-E913-CF9D-0005-84353D29E495}"/>
              </a:ext>
            </a:extLst>
          </p:cNvPr>
          <p:cNvSpPr/>
          <p:nvPr/>
        </p:nvSpPr>
        <p:spPr>
          <a:xfrm>
            <a:off x="2516886" y="3003803"/>
            <a:ext cx="1940814" cy="1014983"/>
          </a:xfrm>
          <a:prstGeom prst="roundRect">
            <a:avLst>
              <a:gd name="adj" fmla="val 3540"/>
            </a:avLst>
          </a:prstGeom>
          <a:solidFill>
            <a:srgbClr val="1E232B"/>
          </a:solidFill>
          <a:ln w="12700">
            <a:solidFill>
              <a:srgbClr val="4A5564"/>
            </a:solidFill>
            <a:prstDash val="solid"/>
          </a:ln>
        </p:spPr>
      </p:sp>
      <p:sp>
        <p:nvSpPr>
          <p:cNvPr id="91" name="Shape 39">
            <a:extLst>
              <a:ext uri="{FF2B5EF4-FFF2-40B4-BE49-F238E27FC236}">
                <a16:creationId xmlns:a16="http://schemas.microsoft.com/office/drawing/2014/main" id="{8C518E8F-0E2D-5115-81D3-6AD0EEA4C9CD}"/>
              </a:ext>
            </a:extLst>
          </p:cNvPr>
          <p:cNvSpPr/>
          <p:nvPr/>
        </p:nvSpPr>
        <p:spPr>
          <a:xfrm>
            <a:off x="2578608" y="3058668"/>
            <a:ext cx="425196" cy="157734"/>
          </a:xfrm>
          <a:prstGeom prst="roundRect">
            <a:avLst>
              <a:gd name="adj" fmla="val 21739"/>
            </a:avLst>
          </a:prstGeom>
          <a:solidFill>
            <a:srgbClr val="FFBC8F"/>
          </a:solidFill>
          <a:ln w="12700">
            <a:solidFill>
              <a:srgbClr val="FFBC8F"/>
            </a:solidFill>
            <a:prstDash val="solid"/>
          </a:ln>
        </p:spPr>
      </p:sp>
      <p:sp>
        <p:nvSpPr>
          <p:cNvPr id="92" name="Text 40">
            <a:extLst>
              <a:ext uri="{FF2B5EF4-FFF2-40B4-BE49-F238E27FC236}">
                <a16:creationId xmlns:a16="http://schemas.microsoft.com/office/drawing/2014/main" id="{16A5899F-8C4D-FB5B-149D-14F3B1C41C0B}"/>
              </a:ext>
            </a:extLst>
          </p:cNvPr>
          <p:cNvSpPr/>
          <p:nvPr/>
        </p:nvSpPr>
        <p:spPr>
          <a:xfrm>
            <a:off x="2606040" y="3072384"/>
            <a:ext cx="370332" cy="130302"/>
          </a:xfrm>
          <a:prstGeom prst="rect">
            <a:avLst/>
          </a:prstGeom>
          <a:solidFill>
            <a:srgbClr val="FFBC8F"/>
          </a:solidFill>
          <a:ln>
            <a:solidFill>
              <a:srgbClr val="FFBC8F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/>
            <a:r>
              <a:rPr lang="en-US" sz="638" b="1" dirty="0">
                <a:solidFill>
                  <a:srgbClr val="14141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Zurück</a:t>
            </a:r>
            <a:endParaRPr lang="en-US" sz="638" dirty="0"/>
          </a:p>
        </p:txBody>
      </p:sp>
      <p:sp>
        <p:nvSpPr>
          <p:cNvPr id="93" name="Text 41">
            <a:extLst>
              <a:ext uri="{FF2B5EF4-FFF2-40B4-BE49-F238E27FC236}">
                <a16:creationId xmlns:a16="http://schemas.microsoft.com/office/drawing/2014/main" id="{432EFDB2-C398-92DA-EFF5-A276DAC59B87}"/>
              </a:ext>
            </a:extLst>
          </p:cNvPr>
          <p:cNvSpPr/>
          <p:nvPr/>
        </p:nvSpPr>
        <p:spPr>
          <a:xfrm>
            <a:off x="2606040" y="3305556"/>
            <a:ext cx="1632204" cy="37719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currentPathParts.value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.pop();</a:t>
            </a:r>
            <a:endParaRPr lang="en-US" sz="900" dirty="0"/>
          </a:p>
          <a:p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loadDirectoryEntries();</a:t>
            </a:r>
            <a:endParaRPr lang="en-US" sz="900" dirty="0"/>
          </a:p>
        </p:txBody>
      </p:sp>
      <p:sp>
        <p:nvSpPr>
          <p:cNvPr id="94" name="Shape 42">
            <a:extLst>
              <a:ext uri="{FF2B5EF4-FFF2-40B4-BE49-F238E27FC236}">
                <a16:creationId xmlns:a16="http://schemas.microsoft.com/office/drawing/2014/main" id="{B3D7BFB3-F1E5-0C20-7296-F9599983AAD5}"/>
              </a:ext>
            </a:extLst>
          </p:cNvPr>
          <p:cNvSpPr/>
          <p:nvPr/>
        </p:nvSpPr>
        <p:spPr>
          <a:xfrm>
            <a:off x="2379726" y="3380994"/>
            <a:ext cx="109728" cy="0"/>
          </a:xfrm>
          <a:prstGeom prst="line">
            <a:avLst/>
          </a:prstGeom>
          <a:noFill/>
          <a:ln w="15240">
            <a:solidFill>
              <a:srgbClr val="F3A56D"/>
            </a:solidFill>
            <a:prstDash val="solid"/>
            <a:tailEnd type="triangle"/>
          </a:ln>
        </p:spPr>
      </p:sp>
      <p:sp>
        <p:nvSpPr>
          <p:cNvPr id="95" name="Shape 43">
            <a:extLst>
              <a:ext uri="{FF2B5EF4-FFF2-40B4-BE49-F238E27FC236}">
                <a16:creationId xmlns:a16="http://schemas.microsoft.com/office/drawing/2014/main" id="{0E52E162-6C33-7148-B429-ABD1629A77C9}"/>
              </a:ext>
            </a:extLst>
          </p:cNvPr>
          <p:cNvSpPr/>
          <p:nvPr/>
        </p:nvSpPr>
        <p:spPr>
          <a:xfrm>
            <a:off x="4718304" y="2660904"/>
            <a:ext cx="4080510" cy="1330452"/>
          </a:xfrm>
          <a:prstGeom prst="roundRect">
            <a:avLst>
              <a:gd name="adj" fmla="val 4124"/>
            </a:avLst>
          </a:prstGeom>
          <a:solidFill>
            <a:srgbClr val="2B3038"/>
          </a:solidFill>
          <a:ln w="12700">
            <a:solidFill>
              <a:srgbClr val="5A626D"/>
            </a:solidFill>
            <a:prstDash val="solid"/>
          </a:ln>
        </p:spPr>
      </p:sp>
      <p:sp>
        <p:nvSpPr>
          <p:cNvPr id="96" name="Text 44">
            <a:extLst>
              <a:ext uri="{FF2B5EF4-FFF2-40B4-BE49-F238E27FC236}">
                <a16:creationId xmlns:a16="http://schemas.microsoft.com/office/drawing/2014/main" id="{D1FCEEDC-FA3A-6D41-367B-3519C0126A36}"/>
              </a:ext>
            </a:extLst>
          </p:cNvPr>
          <p:cNvSpPr/>
          <p:nvPr/>
        </p:nvSpPr>
        <p:spPr>
          <a:xfrm>
            <a:off x="4889754" y="2756916"/>
            <a:ext cx="3154680" cy="1783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975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Wirkung auf die Dateiliste</a:t>
            </a:r>
            <a:endParaRPr lang="en-US" sz="975" dirty="0"/>
          </a:p>
        </p:txBody>
      </p:sp>
      <p:sp>
        <p:nvSpPr>
          <p:cNvPr id="97" name="Text 45">
            <a:extLst>
              <a:ext uri="{FF2B5EF4-FFF2-40B4-BE49-F238E27FC236}">
                <a16:creationId xmlns:a16="http://schemas.microsoft.com/office/drawing/2014/main" id="{944594F7-AA2F-BEF4-AABE-4C953463FEB9}"/>
              </a:ext>
            </a:extLst>
          </p:cNvPr>
          <p:cNvSpPr/>
          <p:nvPr/>
        </p:nvSpPr>
        <p:spPr>
          <a:xfrm>
            <a:off x="4889754" y="2976372"/>
            <a:ext cx="3566160" cy="1508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713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Nach push() oder pop() wird derselbe Loader erneut aufgerufen.</a:t>
            </a:r>
            <a:endParaRPr lang="en-US" sz="713" dirty="0"/>
          </a:p>
        </p:txBody>
      </p:sp>
      <p:sp>
        <p:nvSpPr>
          <p:cNvPr id="98" name="Shape 46">
            <a:extLst>
              <a:ext uri="{FF2B5EF4-FFF2-40B4-BE49-F238E27FC236}">
                <a16:creationId xmlns:a16="http://schemas.microsoft.com/office/drawing/2014/main" id="{10EDCFFA-6CC7-F1EC-05D4-C6BE7A5B2A4C}"/>
              </a:ext>
            </a:extLst>
          </p:cNvPr>
          <p:cNvSpPr/>
          <p:nvPr/>
        </p:nvSpPr>
        <p:spPr>
          <a:xfrm>
            <a:off x="4889753" y="3216402"/>
            <a:ext cx="2208275" cy="692658"/>
          </a:xfrm>
          <a:prstGeom prst="roundRect">
            <a:avLst>
              <a:gd name="adj" fmla="val 5128"/>
            </a:avLst>
          </a:prstGeom>
          <a:solidFill>
            <a:srgbClr val="1E232B"/>
          </a:solidFill>
          <a:ln w="12700">
            <a:solidFill>
              <a:srgbClr val="4A5564"/>
            </a:solidFill>
            <a:prstDash val="solid"/>
          </a:ln>
        </p:spPr>
      </p:sp>
      <p:sp>
        <p:nvSpPr>
          <p:cNvPr id="99" name="Text 47">
            <a:extLst>
              <a:ext uri="{FF2B5EF4-FFF2-40B4-BE49-F238E27FC236}">
                <a16:creationId xmlns:a16="http://schemas.microsoft.com/office/drawing/2014/main" id="{76B1B47D-8D3C-A657-2A2E-6451A71C6F96}"/>
              </a:ext>
            </a:extLst>
          </p:cNvPr>
          <p:cNvSpPr/>
          <p:nvPr/>
        </p:nvSpPr>
        <p:spPr>
          <a:xfrm>
            <a:off x="4972050" y="3305556"/>
            <a:ext cx="2018030" cy="2880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Filesystem.readdir({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directory: Directory.Data,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path: currentPath.value,</a:t>
            </a:r>
            <a:endParaRPr lang="en-US" sz="900" dirty="0"/>
          </a:p>
          <a:p>
            <a:r>
              <a:rPr lang="en-US" sz="900" dirty="0">
                <a:solidFill>
                  <a:srgbClr val="F3F4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100" name="Text 48">
            <a:extLst>
              <a:ext uri="{FF2B5EF4-FFF2-40B4-BE49-F238E27FC236}">
                <a16:creationId xmlns:a16="http://schemas.microsoft.com/office/drawing/2014/main" id="{B1085012-085B-FBBC-B5FA-DA0F4A7300AD}"/>
              </a:ext>
            </a:extLst>
          </p:cNvPr>
          <p:cNvSpPr/>
          <p:nvPr/>
        </p:nvSpPr>
        <p:spPr>
          <a:xfrm>
            <a:off x="7180325" y="3315843"/>
            <a:ext cx="1556653" cy="55549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690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entscheidende Teil ist path: currentPath.value. Dadurch liest die App immer genau den aktuell geöffneten Ordner.</a:t>
            </a:r>
            <a:endParaRPr lang="en-US" sz="690" dirty="0"/>
          </a:p>
        </p:txBody>
      </p:sp>
      <p:sp>
        <p:nvSpPr>
          <p:cNvPr id="101" name="Shape 49">
            <a:extLst>
              <a:ext uri="{FF2B5EF4-FFF2-40B4-BE49-F238E27FC236}">
                <a16:creationId xmlns:a16="http://schemas.microsoft.com/office/drawing/2014/main" id="{2C5C7FAE-0315-5AC4-EEC7-AC008C45121A}"/>
              </a:ext>
            </a:extLst>
          </p:cNvPr>
          <p:cNvSpPr/>
          <p:nvPr/>
        </p:nvSpPr>
        <p:spPr>
          <a:xfrm>
            <a:off x="342900" y="4197096"/>
            <a:ext cx="8455914" cy="740664"/>
          </a:xfrm>
          <a:prstGeom prst="roundRect">
            <a:avLst>
              <a:gd name="adj" fmla="val 7407"/>
            </a:avLst>
          </a:prstGeom>
          <a:solidFill>
            <a:srgbClr val="323841"/>
          </a:solidFill>
          <a:ln w="12700">
            <a:solidFill>
              <a:srgbClr val="5A626D"/>
            </a:solidFill>
            <a:prstDash val="solid"/>
          </a:ln>
        </p:spPr>
      </p:sp>
      <p:sp>
        <p:nvSpPr>
          <p:cNvPr id="102" name="Text 50">
            <a:extLst>
              <a:ext uri="{FF2B5EF4-FFF2-40B4-BE49-F238E27FC236}">
                <a16:creationId xmlns:a16="http://schemas.microsoft.com/office/drawing/2014/main" id="{A2010E48-E59E-80DE-DC47-AA54BA4CEB72}"/>
              </a:ext>
            </a:extLst>
          </p:cNvPr>
          <p:cNvSpPr/>
          <p:nvPr/>
        </p:nvSpPr>
        <p:spPr>
          <a:xfrm>
            <a:off x="514350" y="4306824"/>
            <a:ext cx="1337310" cy="1508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975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diese Lösung?</a:t>
            </a:r>
            <a:endParaRPr lang="en-US" sz="975" dirty="0"/>
          </a:p>
        </p:txBody>
      </p:sp>
      <p:sp>
        <p:nvSpPr>
          <p:cNvPr id="103" name="Text 51">
            <a:extLst>
              <a:ext uri="{FF2B5EF4-FFF2-40B4-BE49-F238E27FC236}">
                <a16:creationId xmlns:a16="http://schemas.microsoft.com/office/drawing/2014/main" id="{3D49DD28-3BBC-36F4-E277-B8B9A4175263}"/>
              </a:ext>
            </a:extLst>
          </p:cNvPr>
          <p:cNvSpPr/>
          <p:nvPr/>
        </p:nvSpPr>
        <p:spPr>
          <a:xfrm>
            <a:off x="1906524" y="4320540"/>
            <a:ext cx="2551176" cy="1508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765" dirty="0">
                <a:solidFill>
                  <a:srgbClr val="BFC5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Stammverzeichnis + currentPathParts + Name = Zielpfad</a:t>
            </a:r>
            <a:endParaRPr lang="en-US" sz="765" dirty="0"/>
          </a:p>
        </p:txBody>
      </p:sp>
      <p:sp>
        <p:nvSpPr>
          <p:cNvPr id="104" name="Shape 52">
            <a:extLst>
              <a:ext uri="{FF2B5EF4-FFF2-40B4-BE49-F238E27FC236}">
                <a16:creationId xmlns:a16="http://schemas.microsoft.com/office/drawing/2014/main" id="{A57D570E-F077-E9CA-B38C-8620FFB3F23C}"/>
              </a:ext>
            </a:extLst>
          </p:cNvPr>
          <p:cNvSpPr/>
          <p:nvPr/>
        </p:nvSpPr>
        <p:spPr>
          <a:xfrm>
            <a:off x="4608576" y="4265676"/>
            <a:ext cx="905256" cy="260604"/>
          </a:xfrm>
          <a:prstGeom prst="roundRect">
            <a:avLst>
              <a:gd name="adj" fmla="val 13158"/>
            </a:avLst>
          </a:prstGeom>
          <a:solidFill>
            <a:srgbClr val="3A302A"/>
          </a:solidFill>
          <a:ln w="12700">
            <a:solidFill>
              <a:srgbClr val="F3A56D"/>
            </a:solidFill>
            <a:prstDash val="solid"/>
          </a:ln>
        </p:spPr>
      </p:sp>
      <p:sp>
        <p:nvSpPr>
          <p:cNvPr id="105" name="Text 53">
            <a:extLst>
              <a:ext uri="{FF2B5EF4-FFF2-40B4-BE49-F238E27FC236}">
                <a16:creationId xmlns:a16="http://schemas.microsoft.com/office/drawing/2014/main" id="{E2BC93AB-E61C-E91A-C0DD-765CD769233B}"/>
              </a:ext>
            </a:extLst>
          </p:cNvPr>
          <p:cNvSpPr/>
          <p:nvPr/>
        </p:nvSpPr>
        <p:spPr>
          <a:xfrm>
            <a:off x="4677156" y="4361688"/>
            <a:ext cx="768096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algn="ctr"/>
            <a:r>
              <a:rPr lang="en-US" sz="630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Öffnen</a:t>
            </a:r>
            <a:endParaRPr lang="en-US" sz="630" dirty="0"/>
          </a:p>
        </p:txBody>
      </p:sp>
      <p:sp>
        <p:nvSpPr>
          <p:cNvPr id="106" name="Shape 54">
            <a:extLst>
              <a:ext uri="{FF2B5EF4-FFF2-40B4-BE49-F238E27FC236}">
                <a16:creationId xmlns:a16="http://schemas.microsoft.com/office/drawing/2014/main" id="{CB105256-E719-0045-F710-76F029F11883}"/>
              </a:ext>
            </a:extLst>
          </p:cNvPr>
          <p:cNvSpPr/>
          <p:nvPr/>
        </p:nvSpPr>
        <p:spPr>
          <a:xfrm>
            <a:off x="5623560" y="4265676"/>
            <a:ext cx="905256" cy="260604"/>
          </a:xfrm>
          <a:prstGeom prst="roundRect">
            <a:avLst>
              <a:gd name="adj" fmla="val 13158"/>
            </a:avLst>
          </a:prstGeom>
          <a:solidFill>
            <a:srgbClr val="3A302A"/>
          </a:solidFill>
          <a:ln w="12700">
            <a:solidFill>
              <a:srgbClr val="F3A56D"/>
            </a:solidFill>
            <a:prstDash val="solid"/>
          </a:ln>
        </p:spPr>
      </p:sp>
      <p:sp>
        <p:nvSpPr>
          <p:cNvPr id="107" name="Text 55">
            <a:extLst>
              <a:ext uri="{FF2B5EF4-FFF2-40B4-BE49-F238E27FC236}">
                <a16:creationId xmlns:a16="http://schemas.microsoft.com/office/drawing/2014/main" id="{ED12BD9B-8ED3-E168-F20A-FB838DC3D983}"/>
              </a:ext>
            </a:extLst>
          </p:cNvPr>
          <p:cNvSpPr/>
          <p:nvPr/>
        </p:nvSpPr>
        <p:spPr>
          <a:xfrm>
            <a:off x="5692140" y="4354830"/>
            <a:ext cx="768096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algn="ctr"/>
            <a:r>
              <a:rPr lang="en-US" sz="630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Importieren</a:t>
            </a:r>
            <a:endParaRPr lang="en-US" sz="630" dirty="0"/>
          </a:p>
        </p:txBody>
      </p:sp>
      <p:sp>
        <p:nvSpPr>
          <p:cNvPr id="108" name="Shape 56">
            <a:extLst>
              <a:ext uri="{FF2B5EF4-FFF2-40B4-BE49-F238E27FC236}">
                <a16:creationId xmlns:a16="http://schemas.microsoft.com/office/drawing/2014/main" id="{23F44B16-12CE-58F2-DD63-E0C813BD7D39}"/>
              </a:ext>
            </a:extLst>
          </p:cNvPr>
          <p:cNvSpPr/>
          <p:nvPr/>
        </p:nvSpPr>
        <p:spPr>
          <a:xfrm>
            <a:off x="6638544" y="4265676"/>
            <a:ext cx="905256" cy="260604"/>
          </a:xfrm>
          <a:prstGeom prst="roundRect">
            <a:avLst>
              <a:gd name="adj" fmla="val 13158"/>
            </a:avLst>
          </a:prstGeom>
          <a:solidFill>
            <a:srgbClr val="3A302A"/>
          </a:solidFill>
          <a:ln w="12700">
            <a:solidFill>
              <a:srgbClr val="F3A56D"/>
            </a:solidFill>
            <a:prstDash val="solid"/>
          </a:ln>
        </p:spPr>
      </p:sp>
      <p:sp>
        <p:nvSpPr>
          <p:cNvPr id="109" name="Text 57">
            <a:extLst>
              <a:ext uri="{FF2B5EF4-FFF2-40B4-BE49-F238E27FC236}">
                <a16:creationId xmlns:a16="http://schemas.microsoft.com/office/drawing/2014/main" id="{F09F6E08-434A-6AE0-7BAB-EE80BDB67F1F}"/>
              </a:ext>
            </a:extLst>
          </p:cNvPr>
          <p:cNvSpPr/>
          <p:nvPr/>
        </p:nvSpPr>
        <p:spPr>
          <a:xfrm>
            <a:off x="6700266" y="4354830"/>
            <a:ext cx="768096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algn="ctr"/>
            <a:r>
              <a:rPr lang="en-US" sz="630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Erstellen</a:t>
            </a:r>
            <a:endParaRPr lang="en-US" sz="630" dirty="0"/>
          </a:p>
        </p:txBody>
      </p:sp>
      <p:sp>
        <p:nvSpPr>
          <p:cNvPr id="110" name="Shape 58">
            <a:extLst>
              <a:ext uri="{FF2B5EF4-FFF2-40B4-BE49-F238E27FC236}">
                <a16:creationId xmlns:a16="http://schemas.microsoft.com/office/drawing/2014/main" id="{7DE45294-AFCA-83A6-61E4-6D7CF8F99FFE}"/>
              </a:ext>
            </a:extLst>
          </p:cNvPr>
          <p:cNvSpPr/>
          <p:nvPr/>
        </p:nvSpPr>
        <p:spPr>
          <a:xfrm>
            <a:off x="7653528" y="4265676"/>
            <a:ext cx="905256" cy="260604"/>
          </a:xfrm>
          <a:prstGeom prst="roundRect">
            <a:avLst>
              <a:gd name="adj" fmla="val 13158"/>
            </a:avLst>
          </a:prstGeom>
          <a:solidFill>
            <a:srgbClr val="3A302A"/>
          </a:solidFill>
          <a:ln w="12700">
            <a:solidFill>
              <a:srgbClr val="F3A56D"/>
            </a:solidFill>
            <a:prstDash val="solid"/>
          </a:ln>
        </p:spPr>
      </p:sp>
      <p:sp>
        <p:nvSpPr>
          <p:cNvPr id="111" name="Text 59">
            <a:extLst>
              <a:ext uri="{FF2B5EF4-FFF2-40B4-BE49-F238E27FC236}">
                <a16:creationId xmlns:a16="http://schemas.microsoft.com/office/drawing/2014/main" id="{82437EB7-CE44-F805-A2D9-CE7F5B2E40D6}"/>
              </a:ext>
            </a:extLst>
          </p:cNvPr>
          <p:cNvSpPr/>
          <p:nvPr/>
        </p:nvSpPr>
        <p:spPr>
          <a:xfrm>
            <a:off x="7709916" y="4354830"/>
            <a:ext cx="768096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algn="ctr"/>
            <a:r>
              <a:rPr lang="en-US" sz="630" b="1" dirty="0">
                <a:solidFill>
                  <a:srgbClr val="F5F6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Löschen</a:t>
            </a:r>
            <a:endParaRPr lang="en-US" sz="630" dirty="0"/>
          </a:p>
        </p:txBody>
      </p:sp>
      <p:sp>
        <p:nvSpPr>
          <p:cNvPr id="112" name="Text 60">
            <a:extLst>
              <a:ext uri="{FF2B5EF4-FFF2-40B4-BE49-F238E27FC236}">
                <a16:creationId xmlns:a16="http://schemas.microsoft.com/office/drawing/2014/main" id="{AFE7AC84-7F63-C715-D715-792AE5EB2845}"/>
              </a:ext>
            </a:extLst>
          </p:cNvPr>
          <p:cNvSpPr/>
          <p:nvPr/>
        </p:nvSpPr>
        <p:spPr>
          <a:xfrm>
            <a:off x="514350" y="4649724"/>
            <a:ext cx="8023860" cy="1508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900" b="1" dirty="0">
                <a:solidFill>
                  <a:srgbClr val="FBE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zentrale Pfadlogik verhindert </a:t>
            </a:r>
            <a:r>
              <a:rPr lang="en-US" sz="900" b="1" dirty="0" err="1">
                <a:solidFill>
                  <a:srgbClr val="FBE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doppelte</a:t>
            </a:r>
            <a:r>
              <a:rPr lang="en-US" sz="900" b="1" dirty="0">
                <a:solidFill>
                  <a:srgbClr val="FBE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900" b="1" dirty="0" err="1">
                <a:solidFill>
                  <a:srgbClr val="FBE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Navigationslogik</a:t>
            </a:r>
            <a:r>
              <a:rPr lang="en-US" sz="900" b="1" dirty="0">
                <a:solidFill>
                  <a:srgbClr val="FBEC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Alle Dateioperationen funktionieren dadurch automatisch auch in Unterordnern.</a:t>
            </a:r>
            <a:endParaRPr lang="en-US" sz="900" dirty="0"/>
          </a:p>
        </p:txBody>
      </p:sp>
      <p:sp>
        <p:nvSpPr>
          <p:cNvPr id="113" name="Shape 61">
            <a:extLst>
              <a:ext uri="{FF2B5EF4-FFF2-40B4-BE49-F238E27FC236}">
                <a16:creationId xmlns:a16="http://schemas.microsoft.com/office/drawing/2014/main" id="{61137B32-342E-9731-0702-217116228026}"/>
              </a:ext>
            </a:extLst>
          </p:cNvPr>
          <p:cNvSpPr/>
          <p:nvPr/>
        </p:nvSpPr>
        <p:spPr>
          <a:xfrm>
            <a:off x="342900" y="4889754"/>
            <a:ext cx="8455914" cy="41148"/>
          </a:xfrm>
          <a:prstGeom prst="rect">
            <a:avLst/>
          </a:prstGeom>
          <a:solidFill>
            <a:srgbClr val="F3A56D"/>
          </a:solidFill>
          <a:ln w="12700">
            <a:solidFill>
              <a:srgbClr val="F3A56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193" y="230935"/>
            <a:ext cx="815176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</a:t>
            </a: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importieren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66" y="737084"/>
            <a:ext cx="4075881" cy="318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8423" y="817042"/>
            <a:ext cx="391648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1. Benutzer startet den Import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39263" y="1122915"/>
            <a:ext cx="3916487" cy="9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"Datei importieren"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auswählen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47" y="737084"/>
            <a:ext cx="4075881" cy="3189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15144" y="1121526"/>
            <a:ext cx="3916487" cy="35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Capawesome File Picker</a:t>
            </a:r>
            <a:endParaRPr lang="en-US" sz="1000" dirty="0"/>
          </a:p>
          <a:p>
            <a:pPr marL="0" indent="0"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readData: true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limit: 1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öffnet den nativen Dateiauswahldialog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62" y="1867656"/>
            <a:ext cx="4075881" cy="31893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779" y="1958137"/>
            <a:ext cx="391648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3. Datei einlesen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575446" y="2277076"/>
            <a:ext cx="3916487" cy="22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Picker liefert Dateiname und Dateidaten zurück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Die Dateidaten werden als Base64 eingelesen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143" y="1867656"/>
            <a:ext cx="4075881" cy="31893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08158" y="1965991"/>
            <a:ext cx="391648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4. Zielordner bestimmen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4632353" y="2274347"/>
            <a:ext cx="3916487" cy="22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Directory.Data/dateimanager-files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currentPathParts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App weiß, in welchem Ordner die Datei gespeichert wird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62" y="2814599"/>
            <a:ext cx="4075881" cy="31893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5778" y="2909291"/>
            <a:ext cx="391648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5. Datei intern speichern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565959" y="3187062"/>
            <a:ext cx="3916487" cy="22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Filesystem.writeFile()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Base64-Daten werden als Datei im internen App-Verzeichnis gespeichert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2143" y="2814599"/>
            <a:ext cx="4075881" cy="31893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91659" y="2909291"/>
            <a:ext cx="391648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6. Dateiliste aktualisieren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4671605" y="3216695"/>
            <a:ext cx="3916487" cy="22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loadDirectoryEntries()</a:t>
            </a: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 </a:t>
            </a:r>
            <a:r>
              <a:rPr lang="en-US" sz="10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Filesystem.readdir()</a:t>
            </a:r>
            <a:endParaRPr lang="en-US" sz="10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importierte Datei erscheint direkt in der aktuellen Ansicht</a:t>
            </a:r>
            <a:endParaRPr lang="en-US" sz="1000" dirty="0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68D31296-54E9-C40A-24AD-D2E530EB8C4A}"/>
              </a:ext>
            </a:extLst>
          </p:cNvPr>
          <p:cNvSpPr/>
          <p:nvPr/>
        </p:nvSpPr>
        <p:spPr>
          <a:xfrm>
            <a:off x="7848600" y="4722859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90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F9C117AF-2BF9-8E7B-ECC2-A71DB843B0E3}"/>
              </a:ext>
            </a:extLst>
          </p:cNvPr>
          <p:cNvSpPr/>
          <p:nvPr/>
        </p:nvSpPr>
        <p:spPr>
          <a:xfrm>
            <a:off x="2338412" y="823480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AC958C09-2835-85F5-A66E-C36C25B1700B}"/>
              </a:ext>
            </a:extLst>
          </p:cNvPr>
          <p:cNvSpPr/>
          <p:nvPr/>
        </p:nvSpPr>
        <p:spPr>
          <a:xfrm>
            <a:off x="6400410" y="817042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233F6F15-EBB0-DFBC-B2E5-9909F77C6DE8}"/>
              </a:ext>
            </a:extLst>
          </p:cNvPr>
          <p:cNvSpPr/>
          <p:nvPr/>
        </p:nvSpPr>
        <p:spPr>
          <a:xfrm>
            <a:off x="2374260" y="1947614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57F80C48-14FB-D8E8-6B3F-7B7F7F423BAC}"/>
              </a:ext>
            </a:extLst>
          </p:cNvPr>
          <p:cNvSpPr/>
          <p:nvPr/>
        </p:nvSpPr>
        <p:spPr>
          <a:xfrm>
            <a:off x="2334438" y="2870857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3D4093EE-782E-EFED-C2FF-9704C5980959}"/>
              </a:ext>
            </a:extLst>
          </p:cNvPr>
          <p:cNvSpPr/>
          <p:nvPr/>
        </p:nvSpPr>
        <p:spPr>
          <a:xfrm>
            <a:off x="6427106" y="1932986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E3DD144-AEDC-E604-E881-1B36C4B3AB15}"/>
              </a:ext>
            </a:extLst>
          </p:cNvPr>
          <p:cNvSpPr/>
          <p:nvPr/>
        </p:nvSpPr>
        <p:spPr>
          <a:xfrm>
            <a:off x="6431465" y="2886594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 3"/>
          <p:cNvSpPr/>
          <p:nvPr/>
        </p:nvSpPr>
        <p:spPr>
          <a:xfrm>
            <a:off x="4699530" y="817042"/>
            <a:ext cx="3916487" cy="124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2. Nativen Dateiauswahldialog öffnen</a:t>
            </a:r>
            <a:endParaRPr lang="en-US" sz="1000" dirty="0"/>
          </a:p>
        </p:txBody>
      </p:sp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9D656665-1D71-ED0D-4B27-DB6FDA0B1B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2743" y="3846543"/>
            <a:ext cx="8417587" cy="1132257"/>
          </a:xfrm>
          <a:prstGeom prst="rect">
            <a:avLst/>
          </a:prstGeom>
        </p:spPr>
      </p:pic>
      <p:sp>
        <p:nvSpPr>
          <p:cNvPr id="58" name="Textfeld 57">
            <a:extLst>
              <a:ext uri="{FF2B5EF4-FFF2-40B4-BE49-F238E27FC236}">
                <a16:creationId xmlns:a16="http://schemas.microsoft.com/office/drawing/2014/main" id="{E213A6EE-AF0B-28E5-5825-CDA0A1C58209}"/>
              </a:ext>
            </a:extLst>
          </p:cNvPr>
          <p:cNvSpPr txBox="1"/>
          <p:nvPr/>
        </p:nvSpPr>
        <p:spPr>
          <a:xfrm>
            <a:off x="674525" y="3896902"/>
            <a:ext cx="26574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Code:</a:t>
            </a:r>
          </a:p>
          <a:p>
            <a:endParaRPr lang="de-DE" sz="1000" dirty="0">
              <a:solidFill>
                <a:srgbClr val="D4D4D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=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await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FilePicker.pickFiles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({</a:t>
            </a:r>
          </a:p>
          <a:p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readData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true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</a:p>
          <a:p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1,</a:t>
            </a:r>
          </a:p>
          <a:p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});</a:t>
            </a:r>
            <a:endParaRPr lang="de-DE" dirty="0"/>
          </a:p>
        </p:txBody>
      </p:sp>
      <p:sp>
        <p:nvSpPr>
          <p:cNvPr id="60" name="Textfeld 59">
            <a:extLst>
              <a:ext uri="{FF2B5EF4-FFF2-40B4-BE49-F238E27FC236}">
                <a16:creationId xmlns:a16="http://schemas.microsoft.com/office/drawing/2014/main" id="{DE193BCE-3FC2-B482-5686-4F1007654069}"/>
              </a:ext>
            </a:extLst>
          </p:cNvPr>
          <p:cNvSpPr txBox="1"/>
          <p:nvPr/>
        </p:nvSpPr>
        <p:spPr>
          <a:xfrm>
            <a:off x="3836515" y="4108866"/>
            <a:ext cx="4572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await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Filesystem.writeFile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({</a:t>
            </a:r>
          </a:p>
          <a:p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targetPath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</a:p>
          <a:p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file.data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</a:p>
          <a:p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directory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de-DE" sz="100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Directory.Data</a:t>
            </a:r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</a:t>
            </a:r>
          </a:p>
          <a:p>
            <a:r>
              <a:rPr lang="de-DE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});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03425D64-EF96-1DAB-E688-2F17631E6F72}"/>
              </a:ext>
            </a:extLst>
          </p:cNvPr>
          <p:cNvSpPr/>
          <p:nvPr/>
        </p:nvSpPr>
        <p:spPr>
          <a:xfrm>
            <a:off x="7848600" y="476596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  <p:sp>
        <p:nvSpPr>
          <p:cNvPr id="2" name="Text 0"/>
          <p:cNvSpPr/>
          <p:nvPr/>
        </p:nvSpPr>
        <p:spPr>
          <a:xfrm>
            <a:off x="492724" y="497314"/>
            <a:ext cx="8151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</a:t>
            </a: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extern öffnen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95173"/>
            <a:ext cx="2037904" cy="3810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022" y="1395173"/>
            <a:ext cx="2037978" cy="381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36382" y="1891604"/>
            <a:ext cx="1847478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Pfad wird auf Basis des aktuell geöffneten Ordners bestimmt.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95173"/>
            <a:ext cx="2037904" cy="381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660067" y="1855945"/>
            <a:ext cx="1847404" cy="342900"/>
          </a:xfrm>
          <a:prstGeom prst="roundRect">
            <a:avLst>
              <a:gd name="adj" fmla="val 4167"/>
            </a:avLst>
          </a:prstGeom>
          <a:solidFill>
            <a:srgbClr val="36393F"/>
          </a:solidFill>
          <a:ln/>
        </p:spPr>
      </p:sp>
      <p:sp>
        <p:nvSpPr>
          <p:cNvPr id="12" name="Text 7"/>
          <p:cNvSpPr/>
          <p:nvPr/>
        </p:nvSpPr>
        <p:spPr>
          <a:xfrm>
            <a:off x="4781550" y="1946268"/>
            <a:ext cx="161880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Filesystem.getUri()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667250" y="2273913"/>
            <a:ext cx="1847404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 Filesystem-Plugin liefert eine native URI für die intern gespeicherte Datei.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9904" y="1395173"/>
            <a:ext cx="2037978" cy="381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09078" y="1891604"/>
            <a:ext cx="1847478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Android FileProvider</a:t>
            </a:r>
            <a:endParaRPr lang="en-US" sz="1000" dirty="0"/>
          </a:p>
          <a:p>
            <a:pPr marL="0" indent="0" algn="l">
              <a:lnSpc>
                <a:spcPct val="111000"/>
              </a:lnSpc>
              <a:spcAft>
                <a:spcPts val="300"/>
              </a:spcAft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Ermöglicht die kontrollierte Freigabe der internen Datei für eine andere Android-App.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29" y="3186485"/>
            <a:ext cx="2030793" cy="379671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03229" y="3651177"/>
            <a:ext cx="1935544" cy="342900"/>
          </a:xfrm>
          <a:prstGeom prst="roundRect">
            <a:avLst>
              <a:gd name="adj" fmla="val 4167"/>
            </a:avLst>
          </a:prstGeom>
          <a:solidFill>
            <a:srgbClr val="36393F"/>
          </a:solidFill>
          <a:ln/>
        </p:spPr>
      </p:sp>
      <p:sp>
        <p:nvSpPr>
          <p:cNvPr id="20" name="Text 13"/>
          <p:cNvSpPr/>
          <p:nvPr/>
        </p:nvSpPr>
        <p:spPr>
          <a:xfrm>
            <a:off x="591369" y="3719756"/>
            <a:ext cx="1618804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FileOpener.openFile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({path: </a:t>
            </a:r>
            <a:r>
              <a:rPr lang="en-US" sz="80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uri</a:t>
            </a:r>
            <a:r>
              <a:rPr lang="en-US" sz="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547299" y="4027982"/>
            <a:ext cx="1847404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erzeugte URI wird an das File-Opener-Plugin übergeben.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4022" y="3199986"/>
            <a:ext cx="2037978" cy="38100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01769" y="4624562"/>
            <a:ext cx="8151763" cy="445526"/>
          </a:xfrm>
          <a:prstGeom prst="roundRect">
            <a:avLst>
              <a:gd name="adj" fmla="val 4817"/>
            </a:avLst>
          </a:prstGeom>
          <a:solidFill>
            <a:srgbClr val="803300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019" y="4714751"/>
            <a:ext cx="119062" cy="952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11331" y="4668891"/>
            <a:ext cx="8204150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Die Dateimanager-App besitzt keinen eigenen Datei-Viewer.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Sie verwaltet die Datei intern und übergibt sie zum Anzeigen sicher an </a:t>
            </a:r>
            <a:r>
              <a:rPr lang="en-US" sz="10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eine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ct val="111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passende</a:t>
            </a: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externe Android-App.</a:t>
            </a:r>
            <a:endParaRPr lang="en-US" sz="1000" dirty="0"/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2A35B28F-7834-AADE-D45F-8DF2F031C3A1}"/>
              </a:ext>
            </a:extLst>
          </p:cNvPr>
          <p:cNvSpPr/>
          <p:nvPr/>
        </p:nvSpPr>
        <p:spPr>
          <a:xfrm>
            <a:off x="1346489" y="1494145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70C90522-80D1-2CE6-54AC-ADB47B5EB872}"/>
              </a:ext>
            </a:extLst>
          </p:cNvPr>
          <p:cNvSpPr/>
          <p:nvPr/>
        </p:nvSpPr>
        <p:spPr>
          <a:xfrm>
            <a:off x="3384429" y="1507347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2A145E0-32EE-435C-60E6-04B2AF1083AD}"/>
              </a:ext>
            </a:extLst>
          </p:cNvPr>
          <p:cNvSpPr/>
          <p:nvPr/>
        </p:nvSpPr>
        <p:spPr>
          <a:xfrm>
            <a:off x="5422370" y="1494144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3CF6617E-2C8F-71BF-9E4A-E652E3740681}"/>
              </a:ext>
            </a:extLst>
          </p:cNvPr>
          <p:cNvSpPr/>
          <p:nvPr/>
        </p:nvSpPr>
        <p:spPr>
          <a:xfrm>
            <a:off x="7403180" y="1501065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F34FBA6A-2803-3A20-B736-5CA4FA79B8B1}"/>
              </a:ext>
            </a:extLst>
          </p:cNvPr>
          <p:cNvSpPr/>
          <p:nvPr/>
        </p:nvSpPr>
        <p:spPr>
          <a:xfrm>
            <a:off x="1360745" y="3287849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65F8F6D-88F5-0F8B-5A9B-C34184844800}"/>
              </a:ext>
            </a:extLst>
          </p:cNvPr>
          <p:cNvSpPr/>
          <p:nvPr/>
        </p:nvSpPr>
        <p:spPr>
          <a:xfrm>
            <a:off x="3391539" y="3316667"/>
            <a:ext cx="337164" cy="174947"/>
          </a:xfrm>
          <a:prstGeom prst="rect">
            <a:avLst/>
          </a:prstGeom>
          <a:solidFill>
            <a:srgbClr val="484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ext 1"/>
          <p:cNvSpPr/>
          <p:nvPr/>
        </p:nvSpPr>
        <p:spPr>
          <a:xfrm>
            <a:off x="591369" y="1445143"/>
            <a:ext cx="18474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BENUTZER TIPPT AUF DATEI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91369" y="1851034"/>
            <a:ext cx="1847404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„Dokument.pdf“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2629272" y="1445143"/>
            <a:ext cx="18474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 IM INTERNEN SPEICHER FINDEN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4667250" y="1445143"/>
            <a:ext cx="1847404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URI ERZEUGEN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705154" y="1445143"/>
            <a:ext cx="18474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 SICHER FREIGEBEN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650900" y="3257726"/>
            <a:ext cx="184740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DATEI AN FILEOPENER ÜBERGEBEN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2681619" y="3234310"/>
            <a:ext cx="1847478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ANDROID ÖFFNET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PASSENDE APP (</a:t>
            </a:r>
            <a:r>
              <a:rPr lang="en-US" sz="900" dirty="0" err="1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z.B.</a:t>
            </a:r>
            <a:r>
              <a:rPr lang="en-US" sz="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PDF-Viewer)</a:t>
            </a:r>
            <a:endParaRPr lang="en-US" sz="900" dirty="0"/>
          </a:p>
        </p:txBody>
      </p:sp>
      <p:sp>
        <p:nvSpPr>
          <p:cNvPr id="37" name="Text 1">
            <a:extLst>
              <a:ext uri="{FF2B5EF4-FFF2-40B4-BE49-F238E27FC236}">
                <a16:creationId xmlns:a16="http://schemas.microsoft.com/office/drawing/2014/main" id="{B16AE185-2A75-EC78-3457-A44EBBC126C6}"/>
              </a:ext>
            </a:extLst>
          </p:cNvPr>
          <p:cNvSpPr/>
          <p:nvPr/>
        </p:nvSpPr>
        <p:spPr>
          <a:xfrm>
            <a:off x="510332" y="940769"/>
            <a:ext cx="3975943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Das Problem: Externe Android-App </a:t>
            </a:r>
            <a:r>
              <a:rPr lang="en-US" sz="12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kann</a:t>
            </a: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12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nicht</a:t>
            </a: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12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einfach</a:t>
            </a: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auf den </a:t>
            </a:r>
            <a:r>
              <a:rPr lang="en-US" sz="12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internen</a:t>
            </a: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Speicher </a:t>
            </a:r>
            <a:r>
              <a:rPr lang="en-US" sz="12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zugreifen</a:t>
            </a: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</a:t>
            </a: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  <a:sym typeface="Wingdings" panose="05000000000000000000" pitchFamily="2" charset="2"/>
              </a:rPr>
              <a:t></a:t>
            </a:r>
            <a:endParaRPr lang="en-US" sz="120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796F0E2C-FE9E-A7A5-955B-BBF0E202398C}"/>
              </a:ext>
            </a:extLst>
          </p:cNvPr>
          <p:cNvSpPr/>
          <p:nvPr/>
        </p:nvSpPr>
        <p:spPr>
          <a:xfrm>
            <a:off x="7027509" y="947018"/>
            <a:ext cx="3975943" cy="204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Lösung</a:t>
            </a:r>
            <a:r>
              <a:rPr lang="en-US" sz="1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: </a:t>
            </a:r>
            <a:r>
              <a:rPr lang="en-US" sz="12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FileProvider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390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Probleme &amp; Lösungen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96119" y="1760413"/>
            <a:ext cx="8151763" cy="2349103"/>
          </a:xfrm>
          <a:prstGeom prst="roundRect">
            <a:avLst>
              <a:gd name="adj" fmla="val 90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2174007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821558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3464347"/>
            <a:ext cx="8151763" cy="8860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2789" y="1854994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5143" y="1765176"/>
            <a:ext cx="3093988" cy="408831"/>
          </a:xfrm>
          <a:prstGeom prst="rect">
            <a:avLst/>
          </a:prstGeom>
          <a:solidFill>
            <a:srgbClr val="1F1F1E"/>
          </a:solidFill>
          <a:ln/>
        </p:spPr>
      </p:sp>
      <p:sp>
        <p:nvSpPr>
          <p:cNvPr id="9" name="Text 7"/>
          <p:cNvSpPr/>
          <p:nvPr/>
        </p:nvSpPr>
        <p:spPr>
          <a:xfrm>
            <a:off x="2596902" y="1854994"/>
            <a:ext cx="32676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Ursache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49131" y="1765176"/>
            <a:ext cx="3093988" cy="408831"/>
          </a:xfrm>
          <a:custGeom>
            <a:avLst/>
            <a:gdLst/>
            <a:ahLst/>
            <a:cxnLst/>
            <a:rect l="l" t="t" r="r" b="b"/>
            <a:pathLst>
              <a:path w="3093988" h="408831">
                <a:moveTo>
                  <a:pt x="0" y="0"/>
                </a:moveTo>
                <a:lnTo>
                  <a:pt x="3076267" y="0"/>
                </a:lnTo>
                <a:arcTo wR="17721" hR="17721" stAng="16200000" swAng="5400000"/>
                <a:lnTo>
                  <a:pt x="3093988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1F1F1E"/>
          </a:solidFill>
          <a:ln/>
        </p:spPr>
      </p:sp>
      <p:sp>
        <p:nvSpPr>
          <p:cNvPr id="11" name="Text 9"/>
          <p:cNvSpPr/>
          <p:nvPr/>
        </p:nvSpPr>
        <p:spPr>
          <a:xfrm>
            <a:off x="5690890" y="1854994"/>
            <a:ext cx="32676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Lösung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89" y="2266206"/>
            <a:ext cx="21277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JDK 21 / Android-Build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96902" y="2266206"/>
            <a:ext cx="32676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Veraltete Java-Version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90890" y="2266206"/>
            <a:ext cx="281047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JDK 21 mit </a:t>
            </a: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sourceCompatibility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 </a:t>
            </a: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targetCompatibility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89" y="2913757"/>
            <a:ext cx="167059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FileProvider für externe Apps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96902" y="2913757"/>
            <a:ext cx="281047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Dateipfade konnten nicht freigegeben werden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90890" y="2913757"/>
            <a:ext cx="2810470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FileProvider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 </a:t>
            </a: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file_paths.xml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für URI-Freigabe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89" y="3556546"/>
            <a:ext cx="167059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Eigenes Stammverzeichnis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6902" y="3556546"/>
            <a:ext cx="2810470" cy="458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Direkter Zugriff auf </a:t>
            </a: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Directory.Data</a:t>
            </a: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zeigte technische Dateien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90890" y="3556546"/>
            <a:ext cx="3267670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Separates Verzeichnis </a:t>
            </a:r>
            <a:r>
              <a:rPr lang="en-US" sz="110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dateimanager-files</a:t>
            </a:r>
            <a:endParaRPr lang="en-US" sz="110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83AF9B2-3791-DFAD-8ED0-AEA48F4D0979}"/>
              </a:ext>
            </a:extLst>
          </p:cNvPr>
          <p:cNvSpPr/>
          <p:nvPr/>
        </p:nvSpPr>
        <p:spPr>
          <a:xfrm>
            <a:off x="7848600" y="476596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484B5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36" y="372889"/>
            <a:ext cx="3298254" cy="43977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36364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Android &amp; Plattformgrenzen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025426"/>
            <a:ext cx="4722763" cy="7841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3641" y="1170384"/>
            <a:ext cx="39202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Getestet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153641" y="1446758"/>
            <a:ext cx="392028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Android im Emulator mit API 36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1930003"/>
            <a:ext cx="4722763" cy="96797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3641" y="2074962"/>
            <a:ext cx="39202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Nicht getestet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1153641" y="2351336"/>
            <a:ext cx="392028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iOS ist grundsätzlich möglich, benötigt aber Xcode, iOS-Konfiguration und erneutes Testing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18458"/>
            <a:ext cx="4722763" cy="7841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3641" y="3163416"/>
            <a:ext cx="39202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Nicht implementiert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1153641" y="3439790"/>
            <a:ext cx="392028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Umbenennen, ZIP-Funktionen und Systemdateimanager-Integration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923035"/>
            <a:ext cx="4722763" cy="78410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53641" y="4067994"/>
            <a:ext cx="392028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Technische Einschränkung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1153641" y="4344367"/>
            <a:ext cx="392028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Base64-Import kann bei sehr großen Dateien speicherintensiv sein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82054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Was gab es sonst zu beachten?</a:t>
            </a:r>
            <a:endParaRPr lang="en-US" sz="1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131391"/>
            <a:ext cx="2636937" cy="35299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16584" y="1243608"/>
            <a:ext cx="196007" cy="1960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1077" y="1658169"/>
            <a:ext cx="234702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SICHERHEIT &amp; REPOSITORY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41077" y="1934542"/>
            <a:ext cx="234702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Zugangsdaten dürfen nicht in GitHub gespeichert werden: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641077" y="2408486"/>
            <a:ext cx="2347020" cy="44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Capawesome-Lizenzschlüssel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npm-Token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641077" y="2924547"/>
            <a:ext cx="234702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Lokale Konfigurationsdateien werden über .gitignore ausgeschlossen: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1077" y="3398490"/>
            <a:ext cx="2347020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.npmrc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.env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.env.local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3532" y="1131391"/>
            <a:ext cx="2636937" cy="352998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3997" y="1243608"/>
            <a:ext cx="196007" cy="19600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398490" y="1658169"/>
            <a:ext cx="2347020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BEDIENUNG &amp; FEHLERVERMEIDUNG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3398490" y="2138660"/>
            <a:ext cx="2347020" cy="2377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Ordnernamen werden mit trim() bereinigt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leere Namen werden nicht akzeptiert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Löschvorgänge müssen bestätigt werden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beim Löschbutton verhindert click.stop, dass gleichzeitig der Listeneintrag geöffnet wird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Seitentitel wird dynamisch aus dem aktuell geöffneten Ordner bestimmt</a:t>
            </a:r>
            <a:endParaRPr lang="en-US" sz="10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0945" y="1131391"/>
            <a:ext cx="2636937" cy="3529980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31410" y="1243608"/>
            <a:ext cx="196007" cy="19600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155903" y="1658169"/>
            <a:ext cx="2347020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BUILD &amp; ABGABE</a:t>
            </a:r>
            <a:endParaRPr lang="en-US" sz="1250" dirty="0"/>
          </a:p>
        </p:txBody>
      </p:sp>
      <p:sp>
        <p:nvSpPr>
          <p:cNvPr id="17" name="Text 9"/>
          <p:cNvSpPr/>
          <p:nvPr/>
        </p:nvSpPr>
        <p:spPr>
          <a:xfrm>
            <a:off x="6155903" y="1934542"/>
            <a:ext cx="2347020" cy="149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 den Android-Build wird JDK 21 benötigt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APK wird separat erzeugt bzw. bereitgestellt</a:t>
            </a:r>
            <a:endParaRPr lang="en-US" sz="1000" dirty="0"/>
          </a:p>
          <a:p>
            <a:pPr marL="203200" indent="-203200" algn="l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generierte Builddateien müssen nicht Bestandteil des Repositorys sein</a:t>
            </a:r>
            <a:endParaRPr lang="en-US" sz="1000" dirty="0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2A14C47-DA82-57FF-BA01-8B54989B7D5E}"/>
              </a:ext>
            </a:extLst>
          </p:cNvPr>
          <p:cNvSpPr/>
          <p:nvPr/>
        </p:nvSpPr>
        <p:spPr>
          <a:xfrm>
            <a:off x="7848600" y="476596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853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Fazit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496119" y="1132656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394" y="1184895"/>
            <a:ext cx="209327" cy="2093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7440" y="1180579"/>
            <a:ext cx="353868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Alle Grundfunktionen für Android umgesetzt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47440" y="1480989"/>
            <a:ext cx="353868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Importieren, Organisieren, Öffnen und Löschen funktionieren zuverlässig auf Android.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657799" y="1132656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0075" y="1184895"/>
            <a:ext cx="209327" cy="2093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09121" y="1180579"/>
            <a:ext cx="3538761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Web-Technologien mit nativem Dateisystem verbinden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09121" y="1699022"/>
            <a:ext cx="353876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Die größte technische Herausforderung war die saubere Brücke zwischen Vue/TypeScript und dem Android-Dateisystem.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96119" y="2638127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394" y="2690366"/>
            <a:ext cx="209327" cy="20932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7440" y="2686050"/>
            <a:ext cx="3538686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Capacitor als Integrationsschicht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947440" y="2986460"/>
            <a:ext cx="353868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Capacitor ermöglicht die nahtlose Einbindung nativer Android-Funktionen in die Web-App.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4657799" y="2638127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0075" y="2690366"/>
            <a:ext cx="209327" cy="20932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9121" y="2686050"/>
            <a:ext cx="353876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Pfadlogik und FileProvider waren zentral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109121" y="2986460"/>
            <a:ext cx="3538761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currentPathParts</a:t>
            </a: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sorgt für eine saubere Pfadverwaltung, und die FileProvider-Konfiguration war entscheidend für den sicheren Datei-Zugriff.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96119" y="3930328"/>
            <a:ext cx="313953" cy="313953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394" y="3982566"/>
            <a:ext cx="209327" cy="20932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47440" y="3978250"/>
            <a:ext cx="770044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Bewusst schlank, klar erweiterbar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947440" y="4278660"/>
            <a:ext cx="770044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Der Umfang ist absichtlich begrenzt, lässt sich aber später um Umbenennen, ZIP-Funktionen oder eine iOS-Version erweitern.</a:t>
            </a:r>
            <a:endParaRPr lang="en-US" sz="1050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F99C552-D5F8-255A-CF67-289646F85815}"/>
              </a:ext>
            </a:extLst>
          </p:cNvPr>
          <p:cNvSpPr/>
          <p:nvPr/>
        </p:nvSpPr>
        <p:spPr>
          <a:xfrm>
            <a:off x="7848600" y="4765964"/>
            <a:ext cx="1295400" cy="358486"/>
          </a:xfrm>
          <a:prstGeom prst="rect">
            <a:avLst/>
          </a:prstGeom>
          <a:solidFill>
            <a:srgbClr val="292C3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1334</Words>
  <Application>Microsoft Office PowerPoint</Application>
  <PresentationFormat>Bildschirmpräsentation (16:9)</PresentationFormat>
  <Paragraphs>252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22" baseType="lpstr">
      <vt:lpstr>Consolas</vt:lpstr>
      <vt:lpstr>Arial</vt:lpstr>
      <vt:lpstr>Roboto Bold</vt:lpstr>
      <vt:lpstr>IBM Plex Sans Light</vt:lpstr>
      <vt:lpstr>Roboto</vt:lpstr>
      <vt:lpstr>IBM Plex Sans Medium</vt:lpstr>
      <vt:lpstr>Courier New</vt:lpstr>
      <vt:lpstr>Aptos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Finja</dc:creator>
  <cp:lastModifiedBy>finja.sterner@icloud.com</cp:lastModifiedBy>
  <cp:revision>26</cp:revision>
  <dcterms:created xsi:type="dcterms:W3CDTF">2026-08-13T09:06:50Z</dcterms:created>
  <dcterms:modified xsi:type="dcterms:W3CDTF">2026-08-13T14:53:53Z</dcterms:modified>
</cp:coreProperties>
</file>